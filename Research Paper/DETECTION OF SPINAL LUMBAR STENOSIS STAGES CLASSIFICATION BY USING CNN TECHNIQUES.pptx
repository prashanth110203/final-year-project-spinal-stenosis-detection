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275" r:id="rId2"/>
    <p:sldId id="388" r:id="rId3"/>
    <p:sldId id="302" r:id="rId4"/>
    <p:sldId id="384" r:id="rId5"/>
    <p:sldId id="422" r:id="rId6"/>
    <p:sldId id="423" r:id="rId7"/>
    <p:sldId id="424" r:id="rId8"/>
    <p:sldId id="425" r:id="rId9"/>
    <p:sldId id="426" r:id="rId10"/>
    <p:sldId id="427" r:id="rId11"/>
    <p:sldId id="428" r:id="rId12"/>
    <p:sldId id="429" r:id="rId13"/>
    <p:sldId id="430" r:id="rId14"/>
    <p:sldId id="431" r:id="rId15"/>
    <p:sldId id="432" r:id="rId16"/>
    <p:sldId id="395" r:id="rId17"/>
    <p:sldId id="433" r:id="rId18"/>
    <p:sldId id="400" r:id="rId19"/>
    <p:sldId id="434" r:id="rId20"/>
    <p:sldId id="407" r:id="rId21"/>
    <p:sldId id="408" r:id="rId22"/>
    <p:sldId id="439" r:id="rId23"/>
    <p:sldId id="409" r:id="rId24"/>
    <p:sldId id="440" r:id="rId25"/>
    <p:sldId id="443" r:id="rId26"/>
    <p:sldId id="442" r:id="rId27"/>
    <p:sldId id="445" r:id="rId28"/>
    <p:sldId id="452" r:id="rId29"/>
    <p:sldId id="435" r:id="rId30"/>
    <p:sldId id="436" r:id="rId31"/>
    <p:sldId id="437" r:id="rId32"/>
    <p:sldId id="450" r:id="rId33"/>
    <p:sldId id="438" r:id="rId34"/>
    <p:sldId id="447" r:id="rId35"/>
    <p:sldId id="451" r:id="rId36"/>
    <p:sldId id="412" r:id="rId37"/>
    <p:sldId id="414" r:id="rId38"/>
    <p:sldId id="453" r:id="rId39"/>
    <p:sldId id="454" r:id="rId40"/>
    <p:sldId id="301"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8" autoAdjust="0"/>
    <p:restoredTop sz="94590" autoAdjust="0"/>
  </p:normalViewPr>
  <p:slideViewPr>
    <p:cSldViewPr>
      <p:cViewPr varScale="1">
        <p:scale>
          <a:sx n="78" d="100"/>
          <a:sy n="78" d="100"/>
        </p:scale>
        <p:origin x="160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4/3/2025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4/3/2025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3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3 April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3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3 April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3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3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3 April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3 April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457200" y="3564109"/>
            <a:ext cx="8381999" cy="885409"/>
          </a:xfrm>
        </p:spPr>
        <p:txBody>
          <a:bodyPr vert="horz" lIns="91440" tIns="45720" rIns="91440" bIns="45720" rtlCol="0" anchor="t">
            <a:noAutofit/>
          </a:bodyPr>
          <a:lstStyle/>
          <a:p>
            <a:r>
              <a:rPr lang="en-US" sz="1800" b="1" dirty="0">
                <a:solidFill>
                  <a:srgbClr val="7030A0"/>
                </a:solidFill>
                <a:latin typeface="Arial"/>
                <a:ea typeface="+mn-lt"/>
                <a:cs typeface="Arial"/>
              </a:rPr>
              <a:t>Detection of Spinal Lumbar Stenosis Stages Classification by </a:t>
            </a:r>
          </a:p>
          <a:p>
            <a:r>
              <a:rPr lang="en-US" sz="1800" b="1" dirty="0">
                <a:solidFill>
                  <a:srgbClr val="7030A0"/>
                </a:solidFill>
                <a:latin typeface="Arial"/>
                <a:ea typeface="+mn-lt"/>
                <a:cs typeface="Arial"/>
              </a:rPr>
              <a:t>CNN Techniques</a:t>
            </a:r>
            <a:endParaRPr lang="en-US" sz="2400" b="1" dirty="0">
              <a:solidFill>
                <a:srgbClr val="7030A0"/>
              </a:solidFill>
              <a:latin typeface="Arial"/>
              <a:cs typeface="Arial"/>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3 April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pic>
        <p:nvPicPr>
          <p:cNvPr id="3" name="image2.jpeg">
            <a:extLst>
              <a:ext uri="{FF2B5EF4-FFF2-40B4-BE49-F238E27FC236}">
                <a16:creationId xmlns:a16="http://schemas.microsoft.com/office/drawing/2014/main" id="{D20B592D-C5BA-5B8C-EB42-80FBD0A91D48}"/>
              </a:ext>
            </a:extLst>
          </p:cNvPr>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a:extLst>
              <a:ext uri="{FF2B5EF4-FFF2-40B4-BE49-F238E27FC236}">
                <a16:creationId xmlns:a16="http://schemas.microsoft.com/office/drawing/2014/main" id="{41C8031F-DC64-6DA7-5E1D-856D8119A1D3}"/>
              </a:ext>
            </a:extLst>
          </p:cNvPr>
          <p:cNvSpPr txBox="1"/>
          <p:nvPr/>
        </p:nvSpPr>
        <p:spPr>
          <a:xfrm>
            <a:off x="1066800" y="1833211"/>
            <a:ext cx="6553200" cy="369332"/>
          </a:xfrm>
          <a:prstGeom prst="rect">
            <a:avLst/>
          </a:prstGeom>
          <a:noFill/>
        </p:spPr>
        <p:txBody>
          <a:bodyPr wrap="square">
            <a:spAutoFit/>
          </a:bodyPr>
          <a:lstStyle/>
          <a:p>
            <a:endParaRPr lang="en-IN" dirty="0"/>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chor="t">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STUDENTS                                                 GUIDE</a:t>
            </a:r>
          </a:p>
          <a:p>
            <a:pPr algn="l"/>
            <a:r>
              <a:rPr lang="en-US" sz="2000" b="1" dirty="0">
                <a:solidFill>
                  <a:schemeClr val="tx1"/>
                </a:solidFill>
              </a:rPr>
              <a:t>Kathi Prashanth, 41110601                                  Ms. T. Bhanushree M.E., (Ph.D).,                                  Kathiravan K, 41110602                                                      Assistant Professor, CSE</a:t>
            </a:r>
          </a:p>
          <a:p>
            <a:pPr algn="l"/>
            <a:r>
              <a:rPr lang="en-US" sz="2000" b="1" dirty="0">
                <a:solidFill>
                  <a:schemeClr val="tx1"/>
                </a:solidFill>
              </a:rPr>
              <a:t>BATCH ID - 324</a:t>
            </a:r>
          </a:p>
          <a:p>
            <a:pPr algn="l"/>
            <a:endParaRPr lang="en-GB" sz="2000" dirty="0">
              <a:solidFill>
                <a:schemeClr val="tx1"/>
              </a:solidFill>
            </a:endParaRPr>
          </a:p>
        </p:txBody>
      </p:sp>
      <p:sp>
        <p:nvSpPr>
          <p:cNvPr id="7" name="TextBox 6"/>
          <p:cNvSpPr txBox="1"/>
          <p:nvPr/>
        </p:nvSpPr>
        <p:spPr>
          <a:xfrm>
            <a:off x="304800" y="1884882"/>
            <a:ext cx="8610600" cy="1477328"/>
          </a:xfrm>
          <a:prstGeom prst="rect">
            <a:avLst/>
          </a:prstGeom>
          <a:noFill/>
        </p:spPr>
        <p:txBody>
          <a:bodyPr wrap="square" rtlCol="0">
            <a:spAutoFit/>
          </a:bodyPr>
          <a:lstStyle/>
          <a:p>
            <a:pPr algn="ctr">
              <a:lnSpc>
                <a:spcPct val="150000"/>
              </a:lnSpc>
            </a:pPr>
            <a:r>
              <a:rPr lang="en-IN" sz="2000" b="1" dirty="0"/>
              <a:t>DEPARTMENT OF COMPUTER SCIENCE AND ENGINEERING</a:t>
            </a:r>
          </a:p>
          <a:p>
            <a:pPr algn="ctr">
              <a:lnSpc>
                <a:spcPct val="150000"/>
              </a:lnSpc>
            </a:pPr>
            <a:r>
              <a:rPr lang="en-IN" sz="2000" b="1" dirty="0"/>
              <a:t>PR0JECT PHASE II</a:t>
            </a:r>
          </a:p>
          <a:p>
            <a:pPr algn="ctr">
              <a:lnSpc>
                <a:spcPct val="150000"/>
              </a:lnSpc>
            </a:pPr>
            <a:r>
              <a:rPr lang="en-IN" sz="2000" b="1" dirty="0"/>
              <a:t>REVIEW 3</a:t>
            </a:r>
          </a:p>
        </p:txBody>
      </p:sp>
      <p:pic>
        <p:nvPicPr>
          <p:cNvPr id="11" name="Picture 10"/>
          <p:cNvPicPr>
            <a:picLocks noChangeAspect="1"/>
          </p:cNvPicPr>
          <p:nvPr/>
        </p:nvPicPr>
        <p:blipFill>
          <a:blip r:embed="rId4"/>
          <a:stretch>
            <a:fillRect/>
          </a:stretch>
        </p:blipFill>
        <p:spPr>
          <a:xfrm>
            <a:off x="771550" y="2071448"/>
            <a:ext cx="7372300" cy="15143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457200" y="1600993"/>
            <a:ext cx="8229600" cy="4525963"/>
          </a:xfrm>
        </p:spPr>
        <p:txBody>
          <a:bodyPr vert="horz" lIns="91440" tIns="45720" rIns="91440" bIns="45720" rtlCol="0" anchor="t">
            <a:normAutofit fontScale="77500" lnSpcReduction="20000"/>
          </a:bodyPr>
          <a:lstStyle/>
          <a:p>
            <a:r>
              <a:rPr lang="en-US" dirty="0"/>
              <a:t>Abstract</a:t>
            </a:r>
          </a:p>
          <a:p>
            <a:r>
              <a:rPr lang="en-US" dirty="0"/>
              <a:t>Objective(s)</a:t>
            </a:r>
          </a:p>
          <a:p>
            <a:r>
              <a:rPr lang="en-US" dirty="0"/>
              <a:t>Literature Survey</a:t>
            </a:r>
          </a:p>
          <a:p>
            <a:r>
              <a:rPr lang="en-US" dirty="0"/>
              <a:t>Inferences from Literature Survey</a:t>
            </a:r>
          </a:p>
          <a:p>
            <a:r>
              <a:rPr lang="en-US" dirty="0"/>
              <a:t>Proposed System</a:t>
            </a:r>
          </a:p>
          <a:p>
            <a:r>
              <a:rPr lang="en-US" dirty="0"/>
              <a:t>Modules with Explanation </a:t>
            </a:r>
          </a:p>
          <a:p>
            <a:r>
              <a:rPr lang="en-US" dirty="0"/>
              <a:t>Hardware and Software Requirements, Datasets </a:t>
            </a:r>
          </a:p>
          <a:p>
            <a:r>
              <a:rPr lang="en-US" dirty="0"/>
              <a:t>Results and Discussion</a:t>
            </a:r>
          </a:p>
          <a:p>
            <a:r>
              <a:rPr lang="en-US" dirty="0"/>
              <a:t>Conclusion</a:t>
            </a:r>
          </a:p>
          <a:p>
            <a:r>
              <a:rPr lang="en-US" dirty="0"/>
              <a:t>References</a:t>
            </a:r>
          </a:p>
          <a:p>
            <a:r>
              <a:rPr lang="en-US" dirty="0"/>
              <a:t>Paper Publication Status(Presented/Published)</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IN" sz="3600" dirty="0">
                <a:cs typeface="Arial" panose="020B0604020202020204" pitchFamily="34" charset="0"/>
              </a:rPr>
              <a:t>ABSTRACT</a:t>
            </a:r>
          </a:p>
        </p:txBody>
      </p:sp>
      <p:sp>
        <p:nvSpPr>
          <p:cNvPr id="3" name="Content Placeholder 2">
            <a:extLst>
              <a:ext uri="{FF2B5EF4-FFF2-40B4-BE49-F238E27FC236}">
                <a16:creationId xmlns:a16="http://schemas.microsoft.com/office/drawing/2014/main" id="{EFBE04FF-969B-1EF5-3CD5-8CCB83BBC128}"/>
              </a:ext>
            </a:extLst>
          </p:cNvPr>
          <p:cNvSpPr>
            <a:spLocks noGrp="1"/>
          </p:cNvSpPr>
          <p:nvPr>
            <p:ph idx="1"/>
          </p:nvPr>
        </p:nvSpPr>
        <p:spPr>
          <a:xfrm>
            <a:off x="298940" y="1219200"/>
            <a:ext cx="8616460" cy="5257800"/>
          </a:xfrm>
        </p:spPr>
        <p:txBody>
          <a:bodyPr vert="horz" lIns="91440" tIns="45720" rIns="91440" bIns="45720" rtlCol="0" anchor="t">
            <a:noAutofit/>
          </a:bodyPr>
          <a:lstStyle/>
          <a:p>
            <a:pPr marL="0" indent="0" algn="just">
              <a:lnSpc>
                <a:spcPct val="150000"/>
              </a:lnSpc>
              <a:buNone/>
            </a:pPr>
            <a:r>
              <a:rPr lang="en-US" sz="1600" dirty="0">
                <a:latin typeface="Arial"/>
                <a:cs typeface="Times New Roman"/>
              </a:rPr>
              <a:t>Spinal stenosis is a condition characterized by the narrowing of spaces within the spine, which can lead to pain, numbness, and muscle weakness. Accurate and timely diagnosis is crucial for effective treatment and management. In this study, we propose a deep learning-based approach for the classification of spinal stenosis disease. Leveraging advanced convolutional neural networks (CNNs), our model is trained on a comprehensive dataset of spinal imaging data, including MRI and CT scans. The proposed system aims to automatically detect and classify spinal stenosis with high accuracy, reducing the dependency on manual analysis by healthcare professionals. </a:t>
            </a:r>
          </a:p>
          <a:p>
            <a:pPr marL="0" indent="0" algn="just">
              <a:lnSpc>
                <a:spcPct val="150000"/>
              </a:lnSpc>
              <a:buNone/>
            </a:pPr>
            <a:r>
              <a:rPr lang="en-US" sz="1600" dirty="0">
                <a:latin typeface="Arial"/>
                <a:cs typeface="Times New Roman"/>
              </a:rPr>
              <a:t>Our approach includes data preprocessing techniques, model architecture design, and rigorous evaluation metrics to ensure robust performance.</a:t>
            </a:r>
            <a:r>
              <a:rPr lang="en-US" sz="1600" dirty="0">
                <a:latin typeface="Arial"/>
                <a:cs typeface="Arial"/>
              </a:rPr>
              <a:t> </a:t>
            </a:r>
            <a:r>
              <a:rPr lang="en-US" sz="1600" dirty="0">
                <a:latin typeface="Arial"/>
                <a:cs typeface="Times New Roman"/>
              </a:rPr>
              <a:t>The experimental results demonstrate the potential of deep learning in enhancing diagnostic accuracy and efficiency in medical imaging for spinal stenosis, paving the way for improved patient outcomes and streamlined clinical workflows.</a:t>
            </a:r>
          </a:p>
          <a:p>
            <a:pPr marL="0" indent="0" algn="just">
              <a:lnSpc>
                <a:spcPct val="150000"/>
              </a:lnSpc>
              <a:buNone/>
            </a:pPr>
            <a:endParaRPr lang="en-US" sz="1600" dirty="0">
              <a:latin typeface="Arial"/>
              <a:cs typeface="Arial"/>
            </a:endParaRPr>
          </a:p>
          <a:p>
            <a:pPr algn="just">
              <a:lnSpc>
                <a:spcPct val="150000"/>
              </a:lnSpc>
              <a:buNone/>
            </a:pPr>
            <a:r>
              <a:rPr lang="en-US" sz="1400" dirty="0">
                <a:latin typeface="Arial"/>
                <a:cs typeface="Calibri"/>
              </a:rPr>
              <a:t>`</a:t>
            </a:r>
          </a:p>
        </p:txBody>
      </p:sp>
      <p:sp>
        <p:nvSpPr>
          <p:cNvPr id="4" name="Date Placeholder 3">
            <a:extLst>
              <a:ext uri="{FF2B5EF4-FFF2-40B4-BE49-F238E27FC236}">
                <a16:creationId xmlns:a16="http://schemas.microsoft.com/office/drawing/2014/main" id="{2B501FE4-FDDC-C618-352A-C144A5BA9496}"/>
              </a:ext>
            </a:extLst>
          </p:cNvPr>
          <p:cNvSpPr>
            <a:spLocks noGrp="1"/>
          </p:cNvSpPr>
          <p:nvPr>
            <p:ph type="dt" sz="half" idx="10"/>
          </p:nvPr>
        </p:nvSpPr>
        <p:spPr/>
        <p:txBody>
          <a:bodyPr/>
          <a:lstStyle/>
          <a:p>
            <a:fld id="{3B1C548D-CF43-4BC8-83D8-88CF4E87D1EF}" type="datetime3">
              <a:rPr lang="en-US" smtClean="0"/>
              <a:t>3 April 2025</a:t>
            </a:fld>
            <a:endParaRPr lang="en-US"/>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r>
              <a:rPr lang="en-US"/>
              <a:t>School of Computing - CSE</a:t>
            </a:r>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spTree>
    <p:extLst>
      <p:ext uri="{BB962C8B-B14F-4D97-AF65-F5344CB8AC3E}">
        <p14:creationId xmlns:p14="http://schemas.microsoft.com/office/powerpoint/2010/main" val="208756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457200" y="1295400"/>
            <a:ext cx="8229600" cy="4525963"/>
          </a:xfrm>
        </p:spPr>
        <p:txBody>
          <a:bodyPr>
            <a:normAutofit fontScale="55000" lnSpcReduction="20000"/>
          </a:bodyPr>
          <a:lstStyle/>
          <a:p>
            <a:pPr marL="0" indent="0">
              <a:buNone/>
            </a:pPr>
            <a:endParaRPr lang="en-IN" dirty="0"/>
          </a:p>
          <a:p>
            <a:pPr algn="just">
              <a:lnSpc>
                <a:spcPct val="170000"/>
              </a:lnSpc>
            </a:pPr>
            <a:r>
              <a:rPr lang="en-AU" sz="2600" dirty="0">
                <a:latin typeface="Arial" panose="020B0604020202020204" pitchFamily="34" charset="0"/>
                <a:cs typeface="Arial" panose="020B0604020202020204" pitchFamily="34" charset="0"/>
              </a:rPr>
              <a:t>This study aims to implement Convolutional Neural Network (CNN) architectures for accurate and automated classification of spine stenosis in medical imaging. </a:t>
            </a:r>
            <a:r>
              <a:rPr lang="en-AU" sz="2600" b="1" dirty="0">
                <a:latin typeface="Arial" panose="020B0604020202020204" pitchFamily="34" charset="0"/>
                <a:cs typeface="Arial" panose="020B0604020202020204" pitchFamily="34" charset="0"/>
              </a:rPr>
              <a:t> </a:t>
            </a:r>
            <a:endParaRPr lang="en-IN" sz="2600" b="1" i="1" dirty="0">
              <a:latin typeface="Arial" panose="020B0604020202020204" pitchFamily="34" charset="0"/>
              <a:cs typeface="Arial" panose="020B0604020202020204" pitchFamily="34" charset="0"/>
            </a:endParaRPr>
          </a:p>
          <a:p>
            <a:pPr algn="just">
              <a:lnSpc>
                <a:spcPct val="170000"/>
              </a:lnSpc>
            </a:pPr>
            <a:r>
              <a:rPr lang="en-AU" sz="2600" dirty="0">
                <a:latin typeface="Arial" panose="020B0604020202020204" pitchFamily="34" charset="0"/>
                <a:cs typeface="Arial" panose="020B0604020202020204" pitchFamily="34" charset="0"/>
              </a:rPr>
              <a:t>The objective of detecting and classifying stages of spinal lumbar stenosis using Convolutional Neural Network (CNN) techniques is to enhance the accuracy and efficiency of diagnosis in this medical condition. Spinal lumbar stenosis is a prevalent disorder characterized by the narrowing of the spinal canal, often leading to debilitating symptoms. The application of CNNs in medical image analysis enables automated and precise recognition of specific patterns and features indicative of different stages of lumbar stenosis. This approach aims to provide clinicians with a reliable tool for early detection, classification, and personalized treatment planning, ultimately improving patient outcomes by facilitating timely interventions and reducing the risk of complications associated with this spinal disorder.</a:t>
            </a:r>
            <a:endParaRPr lang="en-IN" sz="2600" dirty="0">
              <a:latin typeface="Arial" panose="020B0604020202020204" pitchFamily="34" charset="0"/>
              <a:cs typeface="Arial" panose="020B0604020202020204" pitchFamily="34" charset="0"/>
            </a:endParaRPr>
          </a:p>
          <a:p>
            <a:pPr marL="0" indent="0">
              <a:buNone/>
            </a:pPr>
            <a:endParaRPr lang="en-US" b="1" dirty="0"/>
          </a:p>
        </p:txBody>
      </p:sp>
      <p:sp>
        <p:nvSpPr>
          <p:cNvPr id="4" name="Date Placeholder 3"/>
          <p:cNvSpPr>
            <a:spLocks noGrp="1"/>
          </p:cNvSpPr>
          <p:nvPr>
            <p:ph type="dt" sz="half" idx="10"/>
          </p:nvPr>
        </p:nvSpPr>
        <p:spPr/>
        <p:txBody>
          <a:bodyPr/>
          <a:lstStyle/>
          <a:p>
            <a:fld id="{4259E4DB-F4A9-4B55-8A4A-2E7F131B9C3D}" type="datetime3">
              <a:rPr lang="en-US" smtClean="0"/>
              <a:t>3 April 2025</a:t>
            </a:fld>
            <a:endParaRPr lang="en-US" dirty="0"/>
          </a:p>
        </p:txBody>
      </p:sp>
      <p:sp>
        <p:nvSpPr>
          <p:cNvPr id="5" name="Footer Placeholder 4"/>
          <p:cNvSpPr>
            <a:spLocks noGrp="1"/>
          </p:cNvSpPr>
          <p:nvPr>
            <p:ph type="ftr" sz="quarter" idx="11"/>
          </p:nvPr>
        </p:nvSpPr>
        <p:spPr/>
        <p:txBody>
          <a:bodyPr/>
          <a:lstStyle/>
          <a:p>
            <a:r>
              <a:rPr lang="en-US" dirty="0"/>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2689403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SURVEY(1/10)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5316083"/>
              </p:ext>
            </p:extLst>
          </p:nvPr>
        </p:nvGraphicFramePr>
        <p:xfrm>
          <a:off x="381000" y="1371600"/>
          <a:ext cx="8458199" cy="498475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591843416"/>
                    </a:ext>
                  </a:extLst>
                </a:gridCol>
                <a:gridCol w="1066800">
                  <a:extLst>
                    <a:ext uri="{9D8B030D-6E8A-4147-A177-3AD203B41FA5}">
                      <a16:colId xmlns:a16="http://schemas.microsoft.com/office/drawing/2014/main" val="1555584154"/>
                    </a:ext>
                  </a:extLst>
                </a:gridCol>
                <a:gridCol w="1371600">
                  <a:extLst>
                    <a:ext uri="{9D8B030D-6E8A-4147-A177-3AD203B41FA5}">
                      <a16:colId xmlns:a16="http://schemas.microsoft.com/office/drawing/2014/main" val="1120833032"/>
                    </a:ext>
                  </a:extLst>
                </a:gridCol>
                <a:gridCol w="609600">
                  <a:extLst>
                    <a:ext uri="{9D8B030D-6E8A-4147-A177-3AD203B41FA5}">
                      <a16:colId xmlns:a16="http://schemas.microsoft.com/office/drawing/2014/main" val="1397534317"/>
                    </a:ext>
                  </a:extLst>
                </a:gridCol>
                <a:gridCol w="1628775">
                  <a:extLst>
                    <a:ext uri="{9D8B030D-6E8A-4147-A177-3AD203B41FA5}">
                      <a16:colId xmlns:a16="http://schemas.microsoft.com/office/drawing/2014/main" val="3606659850"/>
                    </a:ext>
                  </a:extLst>
                </a:gridCol>
                <a:gridCol w="1292225">
                  <a:extLst>
                    <a:ext uri="{9D8B030D-6E8A-4147-A177-3AD203B41FA5}">
                      <a16:colId xmlns:a16="http://schemas.microsoft.com/office/drawing/2014/main" val="377063707"/>
                    </a:ext>
                  </a:extLst>
                </a:gridCol>
                <a:gridCol w="889000">
                  <a:extLst>
                    <a:ext uri="{9D8B030D-6E8A-4147-A177-3AD203B41FA5}">
                      <a16:colId xmlns:a16="http://schemas.microsoft.com/office/drawing/2014/main" val="593584194"/>
                    </a:ext>
                  </a:extLst>
                </a:gridCol>
                <a:gridCol w="990599">
                  <a:extLst>
                    <a:ext uri="{9D8B030D-6E8A-4147-A177-3AD203B41FA5}">
                      <a16:colId xmlns:a16="http://schemas.microsoft.com/office/drawing/2014/main" val="1948849872"/>
                    </a:ext>
                  </a:extLst>
                </a:gridCol>
              </a:tblGrid>
              <a:tr h="388136">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2759929461"/>
                  </a:ext>
                </a:extLst>
              </a:tr>
              <a:tr h="4596614">
                <a:tc>
                  <a:txBody>
                    <a:bodyPr/>
                    <a:lstStyle/>
                    <a:p>
                      <a:r>
                        <a:rPr lang="en-IN" sz="1600"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dirty="0">
                          <a:latin typeface="Arial" panose="020B0604020202020204" pitchFamily="34" charset="0"/>
                          <a:cs typeface="Arial" panose="020B0604020202020204" pitchFamily="34" charset="0"/>
                        </a:rPr>
                        <a:t>Fabio </a:t>
                      </a:r>
                      <a:r>
                        <a:rPr lang="en-AU" sz="1200" dirty="0" err="1">
                          <a:latin typeface="Arial" panose="020B0604020202020204" pitchFamily="34" charset="0"/>
                          <a:cs typeface="Arial" panose="020B0604020202020204" pitchFamily="34" charset="0"/>
                        </a:rPr>
                        <a:t>Galbusera</a:t>
                      </a:r>
                      <a:r>
                        <a:rPr lang="en-AU" sz="1200" dirty="0">
                          <a:latin typeface="Arial" panose="020B0604020202020204" pitchFamily="34" charset="0"/>
                          <a:cs typeface="Arial" panose="020B0604020202020204" pitchFamily="34" charset="0"/>
                        </a:rPr>
                        <a:t>, Gloria </a:t>
                      </a:r>
                      <a:r>
                        <a:rPr lang="en-AU" sz="1200" dirty="0" err="1">
                          <a:latin typeface="Arial" panose="020B0604020202020204" pitchFamily="34" charset="0"/>
                          <a:cs typeface="Arial" panose="020B0604020202020204" pitchFamily="34" charset="0"/>
                        </a:rPr>
                        <a:t>Casaroli</a:t>
                      </a:r>
                      <a:r>
                        <a:rPr lang="en-AU" sz="1200" dirty="0">
                          <a:latin typeface="Arial" panose="020B0604020202020204" pitchFamily="34" charset="0"/>
                          <a:cs typeface="Arial" panose="020B0604020202020204" pitchFamily="34" charset="0"/>
                        </a:rPr>
                        <a:t>,</a:t>
                      </a:r>
                      <a:r>
                        <a:rPr lang="en-AU" sz="1200" baseline="0" dirty="0">
                          <a:latin typeface="Arial" panose="020B0604020202020204" pitchFamily="34" charset="0"/>
                          <a:cs typeface="Arial" panose="020B0604020202020204" pitchFamily="34" charset="0"/>
                        </a:rPr>
                        <a:t> </a:t>
                      </a:r>
                      <a:r>
                        <a:rPr lang="en-AU" sz="1200" dirty="0">
                          <a:latin typeface="Arial" panose="020B0604020202020204" pitchFamily="34" charset="0"/>
                          <a:cs typeface="Arial" panose="020B0604020202020204" pitchFamily="34" charset="0"/>
                        </a:rPr>
                        <a:t>Tito </a:t>
                      </a:r>
                      <a:r>
                        <a:rPr lang="en-AU" sz="1200" dirty="0" err="1">
                          <a:latin typeface="Arial" panose="020B0604020202020204" pitchFamily="34" charset="0"/>
                          <a:cs typeface="Arial" panose="020B0604020202020204" pitchFamily="34" charset="0"/>
                        </a:rPr>
                        <a:t>Bassani</a:t>
                      </a:r>
                      <a:endParaRPr lang="en-IN" sz="1200" dirty="0">
                        <a:latin typeface="Arial" panose="020B0604020202020204" pitchFamily="34" charset="0"/>
                        <a:cs typeface="Arial" panose="020B0604020202020204" pitchFamily="34" charset="0"/>
                      </a:endParaRPr>
                    </a:p>
                    <a:p>
                      <a:endParaRPr lang="en-IN" sz="1600" dirty="0"/>
                    </a:p>
                  </a:txBody>
                  <a:tcPr/>
                </a:tc>
                <a:tc>
                  <a:txBody>
                    <a:bodyPr/>
                    <a:lstStyle/>
                    <a:p>
                      <a:r>
                        <a:rPr lang="en-AU" sz="1200" dirty="0">
                          <a:latin typeface="Arial" panose="020B0604020202020204" pitchFamily="34" charset="0"/>
                          <a:cs typeface="Arial" panose="020B0604020202020204" pitchFamily="34" charset="0"/>
                        </a:rPr>
                        <a:t>Artificial intelligence and machine learning in spine research</a:t>
                      </a:r>
                      <a:endParaRPr lang="en-IN" sz="1200" dirty="0"/>
                    </a:p>
                  </a:txBody>
                  <a:tcPr/>
                </a:tc>
                <a:tc>
                  <a:txBody>
                    <a:bodyPr/>
                    <a:lstStyle/>
                    <a:p>
                      <a:r>
                        <a:rPr lang="en-IN" sz="1200" dirty="0"/>
                        <a:t>2018</a:t>
                      </a:r>
                    </a:p>
                  </a:txBody>
                  <a:tcPr/>
                </a:tc>
                <a:tc>
                  <a:txBody>
                    <a:bodyPr/>
                    <a:lstStyle/>
                    <a:p>
                      <a:pPr algn="l"/>
                      <a:r>
                        <a:rPr lang="en-IN" sz="1200" b="1" dirty="0"/>
                        <a:t>Data Collection</a:t>
                      </a:r>
                      <a:r>
                        <a:rPr lang="en-IN" sz="1200" dirty="0"/>
                        <a:t>: Review existing literature on AI/ML in spine research.</a:t>
                      </a:r>
                      <a:r>
                        <a:rPr lang="en-IN" sz="1200" b="1" dirty="0"/>
                        <a:t>AI Techniques</a:t>
                      </a:r>
                      <a:r>
                        <a:rPr lang="en-IN" sz="1200" dirty="0"/>
                        <a:t>: Utilize models like CNNs for image analysis and supervised learning for diagnostics.</a:t>
                      </a:r>
                    </a:p>
                    <a:p>
                      <a:pPr algn="l"/>
                      <a:r>
                        <a:rPr lang="en-IN" sz="1200" b="1" dirty="0"/>
                        <a:t>Spine Applications</a:t>
                      </a:r>
                      <a:r>
                        <a:rPr lang="en-IN" sz="1200" dirty="0"/>
                        <a:t>: Focus on tasks such as vertebrae localization, segmentation, and outcome </a:t>
                      </a:r>
                      <a:r>
                        <a:rPr lang="en-IN" sz="1200" dirty="0" err="1"/>
                        <a:t>prediction.</a:t>
                      </a:r>
                      <a:r>
                        <a:rPr lang="en-IN" sz="1200" b="1" dirty="0" err="1"/>
                        <a:t>Ethical</a:t>
                      </a:r>
                      <a:r>
                        <a:rPr lang="en-IN" sz="1200" b="1" dirty="0"/>
                        <a:t> Review</a:t>
                      </a:r>
                      <a:r>
                        <a:rPr lang="en-IN" sz="1200" dirty="0"/>
                        <a:t>: </a:t>
                      </a:r>
                      <a:r>
                        <a:rPr lang="en-IN" sz="1200" dirty="0" err="1"/>
                        <a:t>Analyze</a:t>
                      </a:r>
                      <a:r>
                        <a:rPr lang="en-IN" sz="1200" dirty="0"/>
                        <a:t> issues of accountability, bias, and data privacy in AI.</a:t>
                      </a:r>
                    </a:p>
                  </a:txBody>
                  <a:tcPr/>
                </a:tc>
                <a:tc>
                  <a:txBody>
                    <a:bodyPr/>
                    <a:lstStyle/>
                    <a:p>
                      <a:r>
                        <a:rPr lang="en-US" sz="1200" b="1" dirty="0"/>
                        <a:t>Enhanced Accuracy</a:t>
                      </a:r>
                      <a:r>
                        <a:rPr lang="en-US" sz="1200" dirty="0"/>
                        <a:t>: AI improves diagnostic precision and task repeatability in spine research.</a:t>
                      </a:r>
                    </a:p>
                    <a:p>
                      <a:r>
                        <a:rPr lang="en-US" sz="1200" b="1" dirty="0"/>
                        <a:t>Ethical Challenges</a:t>
                      </a:r>
                      <a:r>
                        <a:rPr lang="en-US" sz="1200" dirty="0"/>
                        <a:t>: Integration in clinical settings raises ethical questions, needing regulation.</a:t>
                      </a:r>
                    </a:p>
                    <a:p>
                      <a:r>
                        <a:rPr lang="en-US" sz="1200" b="1" dirty="0"/>
                        <a:t>Future Prospects</a:t>
                      </a:r>
                      <a:r>
                        <a:rPr lang="en-US" sz="1200" dirty="0"/>
                        <a:t>: AI could enable more personalized and efficient healthcare but requires advancements.</a:t>
                      </a:r>
                      <a:endParaRPr lang="en-IN" sz="1200" dirty="0"/>
                    </a:p>
                  </a:txBody>
                  <a:tcPr/>
                </a:tc>
                <a:tc>
                  <a:txBody>
                    <a:bodyPr/>
                    <a:lstStyle/>
                    <a:p>
                      <a:r>
                        <a:rPr lang="en-IN" sz="1200" dirty="0"/>
                        <a:t>Consistency</a:t>
                      </a:r>
                    </a:p>
                    <a:p>
                      <a:r>
                        <a:rPr lang="en-IN" sz="1200" dirty="0"/>
                        <a:t>Time Efficiency,</a:t>
                      </a:r>
                    </a:p>
                    <a:p>
                      <a:r>
                        <a:rPr lang="en-IN" sz="1200" dirty="0"/>
                        <a:t>Predictive Insights,</a:t>
                      </a:r>
                    </a:p>
                    <a:p>
                      <a:r>
                        <a:rPr lang="en-IN" sz="1200" dirty="0"/>
                        <a:t>Decision Support.</a:t>
                      </a:r>
                    </a:p>
                    <a:p>
                      <a:endParaRPr lang="en-IN" sz="1100" dirty="0"/>
                    </a:p>
                    <a:p>
                      <a:endParaRPr lang="en-IN" sz="1100" dirty="0"/>
                    </a:p>
                  </a:txBody>
                  <a:tcPr/>
                </a:tc>
                <a:tc>
                  <a:txBody>
                    <a:bodyPr/>
                    <a:lstStyle/>
                    <a:p>
                      <a:r>
                        <a:rPr lang="en-IN" sz="1200" dirty="0"/>
                        <a:t>Bias Risks,</a:t>
                      </a:r>
                    </a:p>
                    <a:p>
                      <a:r>
                        <a:rPr lang="en-IN" sz="1200" dirty="0"/>
                        <a:t>Accountability,</a:t>
                      </a:r>
                    </a:p>
                    <a:p>
                      <a:r>
                        <a:rPr lang="en-IN" sz="1200" dirty="0"/>
                        <a:t>Privacy Concerns,</a:t>
                      </a:r>
                    </a:p>
                    <a:p>
                      <a:r>
                        <a:rPr lang="en-IN" sz="1200" dirty="0"/>
                        <a:t>Validation Challenges</a:t>
                      </a:r>
                    </a:p>
                  </a:txBody>
                  <a:tcPr/>
                </a:tc>
                <a:extLst>
                  <a:ext uri="{0D108BD9-81ED-4DB2-BD59-A6C34878D82A}">
                    <a16:rowId xmlns:a16="http://schemas.microsoft.com/office/drawing/2014/main" val="1854508153"/>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823367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SURVEY(2/10)</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2473595536"/>
              </p:ext>
            </p:extLst>
          </p:nvPr>
        </p:nvGraphicFramePr>
        <p:xfrm>
          <a:off x="381000" y="1371600"/>
          <a:ext cx="8458200" cy="49530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47670640"/>
                    </a:ext>
                  </a:extLst>
                </a:gridCol>
                <a:gridCol w="990600">
                  <a:extLst>
                    <a:ext uri="{9D8B030D-6E8A-4147-A177-3AD203B41FA5}">
                      <a16:colId xmlns:a16="http://schemas.microsoft.com/office/drawing/2014/main" val="3081704959"/>
                    </a:ext>
                  </a:extLst>
                </a:gridCol>
                <a:gridCol w="1066800">
                  <a:extLst>
                    <a:ext uri="{9D8B030D-6E8A-4147-A177-3AD203B41FA5}">
                      <a16:colId xmlns:a16="http://schemas.microsoft.com/office/drawing/2014/main" val="994513278"/>
                    </a:ext>
                  </a:extLst>
                </a:gridCol>
                <a:gridCol w="609600">
                  <a:extLst>
                    <a:ext uri="{9D8B030D-6E8A-4147-A177-3AD203B41FA5}">
                      <a16:colId xmlns:a16="http://schemas.microsoft.com/office/drawing/2014/main" val="1251332182"/>
                    </a:ext>
                  </a:extLst>
                </a:gridCol>
                <a:gridCol w="1905000">
                  <a:extLst>
                    <a:ext uri="{9D8B030D-6E8A-4147-A177-3AD203B41FA5}">
                      <a16:colId xmlns:a16="http://schemas.microsoft.com/office/drawing/2014/main" val="693328544"/>
                    </a:ext>
                  </a:extLst>
                </a:gridCol>
                <a:gridCol w="1219200">
                  <a:extLst>
                    <a:ext uri="{9D8B030D-6E8A-4147-A177-3AD203B41FA5}">
                      <a16:colId xmlns:a16="http://schemas.microsoft.com/office/drawing/2014/main" val="2571291920"/>
                    </a:ext>
                  </a:extLst>
                </a:gridCol>
                <a:gridCol w="1000125">
                  <a:extLst>
                    <a:ext uri="{9D8B030D-6E8A-4147-A177-3AD203B41FA5}">
                      <a16:colId xmlns:a16="http://schemas.microsoft.com/office/drawing/2014/main" val="1081342264"/>
                    </a:ext>
                  </a:extLst>
                </a:gridCol>
                <a:gridCol w="1057275">
                  <a:extLst>
                    <a:ext uri="{9D8B030D-6E8A-4147-A177-3AD203B41FA5}">
                      <a16:colId xmlns:a16="http://schemas.microsoft.com/office/drawing/2014/main" val="152073611"/>
                    </a:ext>
                  </a:extLst>
                </a:gridCol>
              </a:tblGrid>
              <a:tr h="464047">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3971550656"/>
                  </a:ext>
                </a:extLst>
              </a:tr>
              <a:tr h="4488953">
                <a:tc>
                  <a:txBody>
                    <a:bodyPr/>
                    <a:lstStyle/>
                    <a:p>
                      <a:r>
                        <a:rPr lang="en-IN" sz="1600"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dk1"/>
                          </a:solidFill>
                          <a:effectLst/>
                          <a:latin typeface="+mn-lt"/>
                          <a:ea typeface="+mn-ea"/>
                          <a:cs typeface="+mn-cs"/>
                        </a:rPr>
                        <a:t>Amy </a:t>
                      </a:r>
                      <a:r>
                        <a:rPr lang="en-AU" sz="1200" kern="1200" dirty="0" err="1">
                          <a:solidFill>
                            <a:schemeClr val="dk1"/>
                          </a:solidFill>
                          <a:effectLst/>
                          <a:latin typeface="+mn-lt"/>
                          <a:ea typeface="+mn-ea"/>
                          <a:cs typeface="+mn-cs"/>
                        </a:rPr>
                        <a:t>Bellitto</a:t>
                      </a:r>
                      <a:r>
                        <a:rPr lang="en-AU" sz="1200" kern="1200" dirty="0">
                          <a:solidFill>
                            <a:schemeClr val="dk1"/>
                          </a:solidFill>
                          <a:effectLst/>
                          <a:latin typeface="+mn-lt"/>
                          <a:ea typeface="+mn-ea"/>
                          <a:cs typeface="+mn-cs"/>
                        </a:rPr>
                        <a:t> , Alice De Luca, Simona Gamba, Luca Losio, Antonino </a:t>
                      </a:r>
                      <a:r>
                        <a:rPr lang="en-AU" sz="1200" kern="1200" dirty="0" err="1">
                          <a:solidFill>
                            <a:schemeClr val="dk1"/>
                          </a:solidFill>
                          <a:effectLst/>
                          <a:latin typeface="+mn-lt"/>
                          <a:ea typeface="+mn-ea"/>
                          <a:cs typeface="+mn-cs"/>
                        </a:rPr>
                        <a:t>Massone</a:t>
                      </a:r>
                      <a:r>
                        <a:rPr lang="en-AU" sz="1200" kern="1200" dirty="0">
                          <a:solidFill>
                            <a:schemeClr val="dk1"/>
                          </a:solidFill>
                          <a:effectLst/>
                          <a:latin typeface="+mn-lt"/>
                          <a:ea typeface="+mn-ea"/>
                          <a:cs typeface="+mn-cs"/>
                        </a:rPr>
                        <a:t>, Maura </a:t>
                      </a:r>
                      <a:r>
                        <a:rPr lang="en-AU" sz="1200" kern="1200" dirty="0" err="1">
                          <a:solidFill>
                            <a:schemeClr val="dk1"/>
                          </a:solidFill>
                          <a:effectLst/>
                          <a:latin typeface="+mn-lt"/>
                          <a:ea typeface="+mn-ea"/>
                          <a:cs typeface="+mn-cs"/>
                        </a:rPr>
                        <a:t>Casadio</a:t>
                      </a:r>
                      <a:r>
                        <a:rPr lang="en-AU" sz="1200" kern="1200" dirty="0">
                          <a:solidFill>
                            <a:schemeClr val="dk1"/>
                          </a:solidFill>
                          <a:effectLst/>
                          <a:latin typeface="+mn-lt"/>
                          <a:ea typeface="+mn-ea"/>
                          <a:cs typeface="+mn-cs"/>
                        </a:rPr>
                        <a:t> , and Camilla </a:t>
                      </a:r>
                      <a:r>
                        <a:rPr lang="en-AU" sz="1200" kern="1200" dirty="0" err="1">
                          <a:solidFill>
                            <a:schemeClr val="dk1"/>
                          </a:solidFill>
                          <a:effectLst/>
                          <a:latin typeface="+mn-lt"/>
                          <a:ea typeface="+mn-ea"/>
                          <a:cs typeface="+mn-cs"/>
                        </a:rPr>
                        <a:t>Pierella</a:t>
                      </a:r>
                      <a:endParaRPr lang="en-IN" sz="1200" kern="1200" dirty="0">
                        <a:solidFill>
                          <a:schemeClr val="dk1"/>
                        </a:solidFill>
                        <a:effectLst/>
                        <a:latin typeface="+mn-lt"/>
                        <a:ea typeface="+mn-ea"/>
                        <a:cs typeface="+mn-cs"/>
                      </a:endParaRPr>
                    </a:p>
                    <a:p>
                      <a:endParaRPr lang="en-IN"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a:solidFill>
                            <a:schemeClr val="dk1"/>
                          </a:solidFill>
                          <a:effectLst/>
                          <a:latin typeface="+mn-lt"/>
                          <a:ea typeface="+mn-ea"/>
                          <a:cs typeface="+mn-cs"/>
                        </a:rPr>
                        <a:t>Clinical, Kinematic and Muscle Assessment of Bilateral Coordinated Upper-Limb Movements Following Cervical Spinal Cord Injury</a:t>
                      </a:r>
                      <a:endParaRPr lang="en-IN" sz="1200" kern="1200" dirty="0">
                        <a:solidFill>
                          <a:schemeClr val="dk1"/>
                        </a:solidFill>
                        <a:effectLst/>
                        <a:latin typeface="+mn-lt"/>
                        <a:ea typeface="+mn-ea"/>
                        <a:cs typeface="+mn-cs"/>
                      </a:endParaRPr>
                    </a:p>
                    <a:p>
                      <a:endParaRPr lang="en-IN" dirty="0"/>
                    </a:p>
                  </a:txBody>
                  <a:tcPr/>
                </a:tc>
                <a:tc>
                  <a:txBody>
                    <a:bodyPr/>
                    <a:lstStyle/>
                    <a:p>
                      <a:r>
                        <a:rPr lang="en-IN" sz="1400" dirty="0"/>
                        <a:t>2023</a:t>
                      </a:r>
                    </a:p>
                  </a:txBody>
                  <a:tcPr/>
                </a:tc>
                <a:tc>
                  <a:txBody>
                    <a:bodyPr/>
                    <a:lstStyle/>
                    <a:p>
                      <a:r>
                        <a:rPr lang="en-US" sz="1200" b="1" dirty="0"/>
                        <a:t>Functional Assessment</a:t>
                      </a:r>
                      <a:r>
                        <a:rPr lang="en-US" sz="1200" dirty="0"/>
                        <a:t>: Combines clinical, kinematic, and muscle activity measures to assess bilateral arm movements in </a:t>
                      </a:r>
                      <a:r>
                        <a:rPr lang="en-US" sz="1200" dirty="0" err="1"/>
                        <a:t>cSCI.</a:t>
                      </a:r>
                      <a:r>
                        <a:rPr lang="en-US" sz="1200" b="1" dirty="0" err="1"/>
                        <a:t>Participant</a:t>
                      </a:r>
                      <a:r>
                        <a:rPr lang="en-US" sz="1200" b="1" dirty="0"/>
                        <a:t> Groups</a:t>
                      </a:r>
                      <a:r>
                        <a:rPr lang="en-US" sz="1200" dirty="0"/>
                        <a:t>: Twelve </a:t>
                      </a:r>
                      <a:r>
                        <a:rPr lang="en-US" sz="1200" dirty="0" err="1"/>
                        <a:t>cSCI</a:t>
                      </a:r>
                      <a:r>
                        <a:rPr lang="en-US" sz="1200" dirty="0"/>
                        <a:t> patients (C5-C7 lesions) and six unimpaired </a:t>
                      </a:r>
                      <a:r>
                        <a:rPr lang="en-US" sz="1200" dirty="0" err="1"/>
                        <a:t>controls.</a:t>
                      </a:r>
                      <a:r>
                        <a:rPr lang="en-US" sz="1200" b="1" dirty="0" err="1"/>
                        <a:t>Tests</a:t>
                      </a:r>
                      <a:r>
                        <a:rPr lang="en-US" sz="1200" b="1" dirty="0"/>
                        <a:t> Administered</a:t>
                      </a:r>
                      <a:r>
                        <a:rPr lang="en-US" sz="1200" dirty="0"/>
                        <a:t>: Manual Muscle Test, Range of Motion test, and Arm Stabilization Test (from Van </a:t>
                      </a:r>
                      <a:r>
                        <a:rPr lang="en-US" sz="1200" dirty="0" err="1"/>
                        <a:t>Lieshout</a:t>
                      </a:r>
                      <a:r>
                        <a:rPr lang="en-US" sz="1200" dirty="0"/>
                        <a:t> arm/hand function test).</a:t>
                      </a:r>
                      <a:r>
                        <a:rPr lang="en-US" sz="1200" b="1" dirty="0"/>
                        <a:t>Data Analysis</a:t>
                      </a:r>
                      <a:r>
                        <a:rPr lang="en-US" sz="1200" dirty="0"/>
                        <a:t>: Used muscle synergies, spinal maps, and Principal Component Analysis to interpret movement patterns and </a:t>
                      </a:r>
                      <a:r>
                        <a:rPr lang="en-US" sz="1200" dirty="0" err="1"/>
                        <a:t>neuromotor</a:t>
                      </a:r>
                      <a:r>
                        <a:rPr lang="en-US" sz="1200" dirty="0"/>
                        <a:t> changes.</a:t>
                      </a:r>
                      <a:endParaRPr lang="en-IN" sz="1200" dirty="0"/>
                    </a:p>
                  </a:txBody>
                  <a:tcPr/>
                </a:tc>
                <a:tc>
                  <a:txBody>
                    <a:bodyPr/>
                    <a:lstStyle/>
                    <a:p>
                      <a:r>
                        <a:rPr lang="en-US" sz="1200" b="1" dirty="0"/>
                        <a:t>Motor Limitations</a:t>
                      </a:r>
                      <a:r>
                        <a:rPr lang="en-US" sz="1200" dirty="0"/>
                        <a:t>: Clinical tests showed restricted shoulder movement and impaired motor function in the elbows and </a:t>
                      </a:r>
                      <a:r>
                        <a:rPr lang="en-US" sz="1200" dirty="0" err="1"/>
                        <a:t>wrists.</a:t>
                      </a:r>
                      <a:r>
                        <a:rPr lang="en-US" sz="1200" b="1" dirty="0" err="1"/>
                        <a:t>Neuromotor</a:t>
                      </a:r>
                      <a:r>
                        <a:rPr lang="en-US" sz="1200" b="1" dirty="0"/>
                        <a:t> Patterns</a:t>
                      </a:r>
                      <a:r>
                        <a:rPr lang="en-US" sz="1200" dirty="0"/>
                        <a:t>: Analysis revealed abnormal activation of scapular stabilizers, latissimus </a:t>
                      </a:r>
                      <a:r>
                        <a:rPr lang="en-US" sz="1200" dirty="0" err="1"/>
                        <a:t>dorsi</a:t>
                      </a:r>
                      <a:r>
                        <a:rPr lang="en-US" sz="1200" dirty="0"/>
                        <a:t>, pectoralis, and triceps, contributing to movement difficulty.</a:t>
                      </a:r>
                      <a:endParaRPr lang="en-IN" sz="1200" dirty="0"/>
                    </a:p>
                  </a:txBody>
                  <a:tcPr/>
                </a:tc>
                <a:tc>
                  <a:txBody>
                    <a:bodyPr/>
                    <a:lstStyle/>
                    <a:p>
                      <a:r>
                        <a:rPr lang="en-IN" sz="1200" dirty="0"/>
                        <a:t>Detailed Insight,</a:t>
                      </a:r>
                    </a:p>
                    <a:p>
                      <a:r>
                        <a:rPr lang="en-IN" sz="1200" dirty="0"/>
                        <a:t>Enhanced Assessment</a:t>
                      </a:r>
                    </a:p>
                  </a:txBody>
                  <a:tcPr/>
                </a:tc>
                <a:tc>
                  <a:txBody>
                    <a:bodyPr/>
                    <a:lstStyle/>
                    <a:p>
                      <a:r>
                        <a:rPr lang="en-IN" sz="1200" dirty="0"/>
                        <a:t>Limited Sample Size,</a:t>
                      </a:r>
                    </a:p>
                    <a:p>
                      <a:r>
                        <a:rPr lang="en-IN" sz="1200" dirty="0"/>
                        <a:t>Complex Analysis</a:t>
                      </a:r>
                    </a:p>
                  </a:txBody>
                  <a:tcPr/>
                </a:tc>
                <a:extLst>
                  <a:ext uri="{0D108BD9-81ED-4DB2-BD59-A6C34878D82A}">
                    <a16:rowId xmlns:a16="http://schemas.microsoft.com/office/drawing/2014/main" val="2881483569"/>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6</a:t>
            </a:fld>
            <a:endParaRPr lang="en-US"/>
          </a:p>
        </p:txBody>
      </p:sp>
    </p:spTree>
    <p:extLst>
      <p:ext uri="{BB962C8B-B14F-4D97-AF65-F5344CB8AC3E}">
        <p14:creationId xmlns:p14="http://schemas.microsoft.com/office/powerpoint/2010/main" val="8967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SURVEY(3/10)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7988631"/>
              </p:ext>
            </p:extLst>
          </p:nvPr>
        </p:nvGraphicFramePr>
        <p:xfrm>
          <a:off x="381000" y="1371600"/>
          <a:ext cx="8458200" cy="536448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1968277442"/>
                    </a:ext>
                  </a:extLst>
                </a:gridCol>
                <a:gridCol w="990600">
                  <a:extLst>
                    <a:ext uri="{9D8B030D-6E8A-4147-A177-3AD203B41FA5}">
                      <a16:colId xmlns:a16="http://schemas.microsoft.com/office/drawing/2014/main" val="2139706462"/>
                    </a:ext>
                  </a:extLst>
                </a:gridCol>
                <a:gridCol w="1219200">
                  <a:extLst>
                    <a:ext uri="{9D8B030D-6E8A-4147-A177-3AD203B41FA5}">
                      <a16:colId xmlns:a16="http://schemas.microsoft.com/office/drawing/2014/main" val="1022804356"/>
                    </a:ext>
                  </a:extLst>
                </a:gridCol>
                <a:gridCol w="609600">
                  <a:extLst>
                    <a:ext uri="{9D8B030D-6E8A-4147-A177-3AD203B41FA5}">
                      <a16:colId xmlns:a16="http://schemas.microsoft.com/office/drawing/2014/main" val="1927438111"/>
                    </a:ext>
                  </a:extLst>
                </a:gridCol>
                <a:gridCol w="1752600">
                  <a:extLst>
                    <a:ext uri="{9D8B030D-6E8A-4147-A177-3AD203B41FA5}">
                      <a16:colId xmlns:a16="http://schemas.microsoft.com/office/drawing/2014/main" val="265808150"/>
                    </a:ext>
                  </a:extLst>
                </a:gridCol>
                <a:gridCol w="1066800">
                  <a:extLst>
                    <a:ext uri="{9D8B030D-6E8A-4147-A177-3AD203B41FA5}">
                      <a16:colId xmlns:a16="http://schemas.microsoft.com/office/drawing/2014/main" val="871232459"/>
                    </a:ext>
                  </a:extLst>
                </a:gridCol>
                <a:gridCol w="1066800">
                  <a:extLst>
                    <a:ext uri="{9D8B030D-6E8A-4147-A177-3AD203B41FA5}">
                      <a16:colId xmlns:a16="http://schemas.microsoft.com/office/drawing/2014/main" val="910441164"/>
                    </a:ext>
                  </a:extLst>
                </a:gridCol>
                <a:gridCol w="1143000">
                  <a:extLst>
                    <a:ext uri="{9D8B030D-6E8A-4147-A177-3AD203B41FA5}">
                      <a16:colId xmlns:a16="http://schemas.microsoft.com/office/drawing/2014/main" val="3338018911"/>
                    </a:ext>
                  </a:extLst>
                </a:gridCol>
              </a:tblGrid>
              <a:tr h="319088">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2755836578"/>
                  </a:ext>
                </a:extLst>
              </a:tr>
              <a:tr h="4786313">
                <a:tc>
                  <a:txBody>
                    <a:bodyPr/>
                    <a:lstStyle/>
                    <a:p>
                      <a:r>
                        <a:rPr lang="en-IN" sz="1600" dirty="0"/>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kern="1200" dirty="0" err="1">
                          <a:solidFill>
                            <a:schemeClr val="dk1"/>
                          </a:solidFill>
                          <a:effectLst/>
                          <a:latin typeface="+mn-lt"/>
                          <a:ea typeface="+mn-ea"/>
                          <a:cs typeface="+mn-cs"/>
                        </a:rPr>
                        <a:t>JunYoung</a:t>
                      </a:r>
                      <a:r>
                        <a:rPr lang="en-AU" sz="1400" kern="1200" dirty="0">
                          <a:solidFill>
                            <a:schemeClr val="dk1"/>
                          </a:solidFill>
                          <a:effectLst/>
                          <a:latin typeface="+mn-lt"/>
                          <a:ea typeface="+mn-ea"/>
                          <a:cs typeface="+mn-cs"/>
                        </a:rPr>
                        <a:t> Choi , Sang-</a:t>
                      </a:r>
                      <a:r>
                        <a:rPr lang="en-AU" sz="1400" kern="1200" dirty="0" err="1">
                          <a:solidFill>
                            <a:schemeClr val="dk1"/>
                          </a:solidFill>
                          <a:effectLst/>
                          <a:latin typeface="+mn-lt"/>
                          <a:ea typeface="+mn-ea"/>
                          <a:cs typeface="+mn-cs"/>
                        </a:rPr>
                        <a:t>Eun</a:t>
                      </a:r>
                      <a:r>
                        <a:rPr lang="en-AU" sz="1400" kern="1200" dirty="0">
                          <a:solidFill>
                            <a:schemeClr val="dk1"/>
                          </a:solidFill>
                          <a:effectLst/>
                          <a:latin typeface="+mn-lt"/>
                          <a:ea typeface="+mn-ea"/>
                          <a:cs typeface="+mn-cs"/>
                        </a:rPr>
                        <a:t> Lee , </a:t>
                      </a:r>
                      <a:r>
                        <a:rPr lang="en-AU" sz="1400" kern="1200" dirty="0" err="1">
                          <a:solidFill>
                            <a:schemeClr val="dk1"/>
                          </a:solidFill>
                          <a:effectLst/>
                          <a:latin typeface="+mn-lt"/>
                          <a:ea typeface="+mn-ea"/>
                          <a:cs typeface="+mn-cs"/>
                        </a:rPr>
                        <a:t>YeIn</a:t>
                      </a:r>
                      <a:r>
                        <a:rPr lang="en-AU" sz="1400" kern="1200" dirty="0">
                          <a:solidFill>
                            <a:schemeClr val="dk1"/>
                          </a:solidFill>
                          <a:effectLst/>
                          <a:latin typeface="+mn-lt"/>
                          <a:ea typeface="+mn-ea"/>
                          <a:cs typeface="+mn-cs"/>
                        </a:rPr>
                        <a:t> Lee, </a:t>
                      </a:r>
                      <a:r>
                        <a:rPr lang="en-AU" sz="1400" kern="1200" dirty="0" err="1">
                          <a:solidFill>
                            <a:schemeClr val="dk1"/>
                          </a:solidFill>
                          <a:effectLst/>
                          <a:latin typeface="+mn-lt"/>
                          <a:ea typeface="+mn-ea"/>
                          <a:cs typeface="+mn-cs"/>
                        </a:rPr>
                        <a:t>Eunji</a:t>
                      </a:r>
                      <a:r>
                        <a:rPr lang="en-AU" sz="1400" kern="1200" dirty="0">
                          <a:solidFill>
                            <a:schemeClr val="dk1"/>
                          </a:solidFill>
                          <a:effectLst/>
                          <a:latin typeface="+mn-lt"/>
                          <a:ea typeface="+mn-ea"/>
                          <a:cs typeface="+mn-cs"/>
                        </a:rPr>
                        <a:t> Cho , </a:t>
                      </a:r>
                      <a:r>
                        <a:rPr lang="en-AU" sz="1400" kern="1200" dirty="0" err="1">
                          <a:solidFill>
                            <a:schemeClr val="dk1"/>
                          </a:solidFill>
                          <a:effectLst/>
                          <a:latin typeface="+mn-lt"/>
                          <a:ea typeface="+mn-ea"/>
                          <a:cs typeface="+mn-cs"/>
                        </a:rPr>
                        <a:t>Sunghoe</a:t>
                      </a:r>
                      <a:r>
                        <a:rPr lang="en-AU" sz="1400" kern="1200" dirty="0">
                          <a:solidFill>
                            <a:schemeClr val="dk1"/>
                          </a:solidFill>
                          <a:effectLst/>
                          <a:latin typeface="+mn-lt"/>
                          <a:ea typeface="+mn-ea"/>
                          <a:cs typeface="+mn-cs"/>
                        </a:rPr>
                        <a:t> Chang , and Won-Ki </a:t>
                      </a:r>
                      <a:r>
                        <a:rPr lang="en-AU" sz="1400" kern="1200" dirty="0" err="1">
                          <a:solidFill>
                            <a:schemeClr val="dk1"/>
                          </a:solidFill>
                          <a:effectLst/>
                          <a:latin typeface="+mn-lt"/>
                          <a:ea typeface="+mn-ea"/>
                          <a:cs typeface="+mn-cs"/>
                        </a:rPr>
                        <a:t>Jeong</a:t>
                      </a:r>
                      <a:endParaRPr lang="en-IN" sz="1400" kern="1200" dirty="0">
                        <a:solidFill>
                          <a:schemeClr val="dk1"/>
                        </a:solidFill>
                        <a:effectLst/>
                        <a:latin typeface="+mn-lt"/>
                        <a:ea typeface="+mn-ea"/>
                        <a:cs typeface="+mn-cs"/>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kern="1200" dirty="0" err="1">
                          <a:solidFill>
                            <a:schemeClr val="dk1"/>
                          </a:solidFill>
                          <a:effectLst/>
                          <a:latin typeface="+mn-lt"/>
                          <a:ea typeface="+mn-ea"/>
                          <a:cs typeface="+mn-cs"/>
                        </a:rPr>
                        <a:t>DXplorer</a:t>
                      </a:r>
                      <a:r>
                        <a:rPr lang="en-AU" sz="1400" kern="1200" dirty="0">
                          <a:solidFill>
                            <a:schemeClr val="dk1"/>
                          </a:solidFill>
                          <a:effectLst/>
                          <a:latin typeface="+mn-lt"/>
                          <a:ea typeface="+mn-ea"/>
                          <a:cs typeface="+mn-cs"/>
                        </a:rPr>
                        <a:t>: A Unified Visualization Framework for Interactive Dendritic Spine Analysis Using 3D Morphological Features</a:t>
                      </a:r>
                      <a:endParaRPr lang="en-IN" sz="1400" kern="1200" dirty="0">
                        <a:solidFill>
                          <a:schemeClr val="dk1"/>
                        </a:solidFill>
                        <a:effectLst/>
                        <a:latin typeface="+mn-lt"/>
                        <a:ea typeface="+mn-ea"/>
                        <a:cs typeface="+mn-cs"/>
                      </a:endParaRPr>
                    </a:p>
                    <a:p>
                      <a:endParaRPr lang="en-IN" dirty="0"/>
                    </a:p>
                  </a:txBody>
                  <a:tcPr/>
                </a:tc>
                <a:tc>
                  <a:txBody>
                    <a:bodyPr/>
                    <a:lstStyle/>
                    <a:p>
                      <a:r>
                        <a:rPr lang="en-IN" sz="1200" dirty="0"/>
                        <a:t>2023</a:t>
                      </a:r>
                    </a:p>
                  </a:txBody>
                  <a:tcPr/>
                </a:tc>
                <a:tc>
                  <a:txBody>
                    <a:bodyPr/>
                    <a:lstStyle/>
                    <a:p>
                      <a:r>
                        <a:rPr lang="en-IN" sz="1200" b="1" dirty="0" err="1"/>
                        <a:t>DXplorer</a:t>
                      </a:r>
                      <a:r>
                        <a:rPr lang="en-IN" sz="1200" b="1" dirty="0"/>
                        <a:t> Framework</a:t>
                      </a:r>
                      <a:r>
                        <a:rPr lang="en-IN" sz="1200" dirty="0"/>
                        <a:t>: A 3D dendritic spine analysis system allowing interactive visualization and clustering of dendritic spines.</a:t>
                      </a:r>
                      <a:r>
                        <a:rPr lang="en-IN" sz="1200" b="1" dirty="0"/>
                        <a:t>3D Mesh-Based Analysis</a:t>
                      </a:r>
                      <a:r>
                        <a:rPr lang="en-IN" sz="1200" dirty="0"/>
                        <a:t>: High-dimensional morphological features extracted from a 3D mesh enable detailed analysis of spine </a:t>
                      </a:r>
                      <a:r>
                        <a:rPr lang="en-IN" sz="1200" dirty="0" err="1"/>
                        <a:t>structures.</a:t>
                      </a:r>
                      <a:r>
                        <a:rPr lang="en-IN" sz="1200" b="1" dirty="0" err="1"/>
                        <a:t>Interactive</a:t>
                      </a:r>
                      <a:r>
                        <a:rPr lang="en-IN" sz="1200" b="1" dirty="0"/>
                        <a:t> Machine Learning</a:t>
                      </a:r>
                      <a:r>
                        <a:rPr lang="en-IN" sz="1200" dirty="0"/>
                        <a:t>: Classifier integrates user feedback and visual exploration, enhancing classification accuracy for spine- </a:t>
                      </a:r>
                      <a:r>
                        <a:rPr lang="en-IN" sz="1200" dirty="0" err="1"/>
                        <a:t>phenotypes.</a:t>
                      </a:r>
                      <a:r>
                        <a:rPr lang="en-IN" sz="1200" b="1" dirty="0" err="1"/>
                        <a:t>User</a:t>
                      </a:r>
                      <a:r>
                        <a:rPr lang="en-IN" sz="1200" b="1" dirty="0"/>
                        <a:t> and Case Studies</a:t>
                      </a:r>
                      <a:r>
                        <a:rPr lang="en-IN" sz="1200" dirty="0"/>
                        <a:t>: Quantitative evaluations through user study and case studies to validate the system's performance and usability.</a:t>
                      </a:r>
                    </a:p>
                  </a:txBody>
                  <a:tcPr/>
                </a:tc>
                <a:tc>
                  <a:txBody>
                    <a:bodyPr/>
                    <a:lstStyle/>
                    <a:p>
                      <a:r>
                        <a:rPr lang="en-IN" sz="1200" b="1" dirty="0"/>
                        <a:t>Enhanced Analysis</a:t>
                      </a:r>
                      <a:r>
                        <a:rPr lang="en-IN" sz="1200" dirty="0"/>
                        <a:t>: </a:t>
                      </a:r>
                      <a:r>
                        <a:rPr lang="en-IN" sz="1200" dirty="0" err="1"/>
                        <a:t>DXplorer</a:t>
                      </a:r>
                      <a:r>
                        <a:rPr lang="en-IN" sz="1200" dirty="0"/>
                        <a:t> offers accurate and objective dendritic spine morphology analysis, overcoming limitations of 2D </a:t>
                      </a:r>
                      <a:r>
                        <a:rPr lang="en-IN" sz="1200" dirty="0" err="1"/>
                        <a:t>approaches.</a:t>
                      </a:r>
                      <a:r>
                        <a:rPr lang="en-IN" sz="1200" b="1" dirty="0" err="1"/>
                        <a:t>Interactive</a:t>
                      </a:r>
                      <a:r>
                        <a:rPr lang="en-IN" sz="1200" b="1" dirty="0"/>
                        <a:t> Classification</a:t>
                      </a:r>
                      <a:r>
                        <a:rPr lang="en-IN" sz="1200" dirty="0"/>
                        <a:t>: User feedback integrated into machine learning improves precision in spine phenotype classification.</a:t>
                      </a:r>
                    </a:p>
                  </a:txBody>
                  <a:tcPr/>
                </a:tc>
                <a:tc>
                  <a:txBody>
                    <a:bodyPr/>
                    <a:lstStyle/>
                    <a:p>
                      <a:r>
                        <a:rPr lang="en-IN" sz="1200" dirty="0"/>
                        <a:t>3D Visualization,</a:t>
                      </a:r>
                    </a:p>
                    <a:p>
                      <a:r>
                        <a:rPr lang="en-IN" sz="1200" dirty="0"/>
                        <a:t>User-Friendly Interface</a:t>
                      </a:r>
                    </a:p>
                  </a:txBody>
                  <a:tcPr/>
                </a:tc>
                <a:tc>
                  <a:txBody>
                    <a:bodyPr/>
                    <a:lstStyle/>
                    <a:p>
                      <a:r>
                        <a:rPr lang="en-IN" sz="1200" dirty="0"/>
                        <a:t>High Dimensionality,</a:t>
                      </a:r>
                    </a:p>
                    <a:p>
                      <a:r>
                        <a:rPr lang="en-IN" sz="1200" dirty="0"/>
                        <a:t>Learning Curve</a:t>
                      </a:r>
                    </a:p>
                  </a:txBody>
                  <a:tcPr/>
                </a:tc>
                <a:extLst>
                  <a:ext uri="{0D108BD9-81ED-4DB2-BD59-A6C34878D82A}">
                    <a16:rowId xmlns:a16="http://schemas.microsoft.com/office/drawing/2014/main" val="3417210863"/>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7</a:t>
            </a:fld>
            <a:endParaRPr lang="en-US"/>
          </a:p>
        </p:txBody>
      </p:sp>
    </p:spTree>
    <p:extLst>
      <p:ext uri="{BB962C8B-B14F-4D97-AF65-F5344CB8AC3E}">
        <p14:creationId xmlns:p14="http://schemas.microsoft.com/office/powerpoint/2010/main" val="1844992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SURVEY(4/10)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39415120"/>
              </p:ext>
            </p:extLst>
          </p:nvPr>
        </p:nvGraphicFramePr>
        <p:xfrm>
          <a:off x="457200" y="1371601"/>
          <a:ext cx="8305800" cy="5029199"/>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918959295"/>
                    </a:ext>
                  </a:extLst>
                </a:gridCol>
                <a:gridCol w="990600">
                  <a:extLst>
                    <a:ext uri="{9D8B030D-6E8A-4147-A177-3AD203B41FA5}">
                      <a16:colId xmlns:a16="http://schemas.microsoft.com/office/drawing/2014/main" val="3327458416"/>
                    </a:ext>
                  </a:extLst>
                </a:gridCol>
                <a:gridCol w="1219200">
                  <a:extLst>
                    <a:ext uri="{9D8B030D-6E8A-4147-A177-3AD203B41FA5}">
                      <a16:colId xmlns:a16="http://schemas.microsoft.com/office/drawing/2014/main" val="395762376"/>
                    </a:ext>
                  </a:extLst>
                </a:gridCol>
                <a:gridCol w="609600">
                  <a:extLst>
                    <a:ext uri="{9D8B030D-6E8A-4147-A177-3AD203B41FA5}">
                      <a16:colId xmlns:a16="http://schemas.microsoft.com/office/drawing/2014/main" val="2547715548"/>
                    </a:ext>
                  </a:extLst>
                </a:gridCol>
                <a:gridCol w="1828800">
                  <a:extLst>
                    <a:ext uri="{9D8B030D-6E8A-4147-A177-3AD203B41FA5}">
                      <a16:colId xmlns:a16="http://schemas.microsoft.com/office/drawing/2014/main" val="2700538025"/>
                    </a:ext>
                  </a:extLst>
                </a:gridCol>
                <a:gridCol w="1066800">
                  <a:extLst>
                    <a:ext uri="{9D8B030D-6E8A-4147-A177-3AD203B41FA5}">
                      <a16:colId xmlns:a16="http://schemas.microsoft.com/office/drawing/2014/main" val="745807190"/>
                    </a:ext>
                  </a:extLst>
                </a:gridCol>
                <a:gridCol w="990600">
                  <a:extLst>
                    <a:ext uri="{9D8B030D-6E8A-4147-A177-3AD203B41FA5}">
                      <a16:colId xmlns:a16="http://schemas.microsoft.com/office/drawing/2014/main" val="298323502"/>
                    </a:ext>
                  </a:extLst>
                </a:gridCol>
                <a:gridCol w="990600">
                  <a:extLst>
                    <a:ext uri="{9D8B030D-6E8A-4147-A177-3AD203B41FA5}">
                      <a16:colId xmlns:a16="http://schemas.microsoft.com/office/drawing/2014/main" val="4044030118"/>
                    </a:ext>
                  </a:extLst>
                </a:gridCol>
              </a:tblGrid>
              <a:tr h="357472">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3377582691"/>
                  </a:ext>
                </a:extLst>
              </a:tr>
              <a:tr h="4671727">
                <a:tc>
                  <a:txBody>
                    <a:bodyPr/>
                    <a:lstStyle/>
                    <a:p>
                      <a:r>
                        <a:rPr lang="en-IN" sz="1800" kern="1200" dirty="0">
                          <a:solidFill>
                            <a:schemeClr val="dk1"/>
                          </a:solidFill>
                          <a:latin typeface="+mn-lt"/>
                          <a:ea typeface="+mn-ea"/>
                          <a:cs typeface="+mn-cs"/>
                        </a:rPr>
                        <a:t>4</a:t>
                      </a:r>
                    </a:p>
                  </a:txBody>
                  <a:tcPr/>
                </a:tc>
                <a:tc>
                  <a:txBody>
                    <a:bodyPr/>
                    <a:lstStyle/>
                    <a:p>
                      <a:r>
                        <a:rPr lang="en-AU" sz="1400" kern="1200" dirty="0">
                          <a:solidFill>
                            <a:schemeClr val="dk1"/>
                          </a:solidFill>
                          <a:effectLst/>
                          <a:latin typeface="+mn-lt"/>
                          <a:ea typeface="+mn-ea"/>
                          <a:cs typeface="+mn-cs"/>
                        </a:rPr>
                        <a:t>Md. </a:t>
                      </a:r>
                      <a:r>
                        <a:rPr lang="en-AU" sz="1400" kern="1200" dirty="0" err="1">
                          <a:solidFill>
                            <a:schemeClr val="dk1"/>
                          </a:solidFill>
                          <a:effectLst/>
                          <a:latin typeface="+mn-lt"/>
                          <a:ea typeface="+mn-ea"/>
                          <a:cs typeface="+mn-cs"/>
                        </a:rPr>
                        <a:t>Raihan</a:t>
                      </a:r>
                      <a:r>
                        <a:rPr lang="en-AU" sz="1400" kern="1200" dirty="0">
                          <a:solidFill>
                            <a:schemeClr val="dk1"/>
                          </a:solidFill>
                          <a:effectLst/>
                          <a:latin typeface="+mn-lt"/>
                          <a:ea typeface="+mn-ea"/>
                          <a:cs typeface="+mn-cs"/>
                        </a:rPr>
                        <a:t>-Al-</a:t>
                      </a:r>
                      <a:r>
                        <a:rPr lang="en-AU" sz="1400" kern="1200" dirty="0" err="1">
                          <a:solidFill>
                            <a:schemeClr val="dk1"/>
                          </a:solidFill>
                          <a:effectLst/>
                          <a:latin typeface="+mn-lt"/>
                          <a:ea typeface="+mn-ea"/>
                          <a:cs typeface="+mn-cs"/>
                        </a:rPr>
                        <a:t>MasudID</a:t>
                      </a:r>
                      <a:r>
                        <a:rPr lang="en-AU" sz="1400" kern="1200" dirty="0">
                          <a:solidFill>
                            <a:schemeClr val="dk1"/>
                          </a:solidFill>
                          <a:effectLst/>
                          <a:latin typeface="+mn-lt"/>
                          <a:ea typeface="+mn-ea"/>
                          <a:cs typeface="+mn-cs"/>
                        </a:rPr>
                        <a:t>, M. </a:t>
                      </a:r>
                      <a:r>
                        <a:rPr lang="en-AU" sz="1400" kern="1200" dirty="0" err="1">
                          <a:solidFill>
                            <a:schemeClr val="dk1"/>
                          </a:solidFill>
                          <a:effectLst/>
                          <a:latin typeface="+mn-lt"/>
                          <a:ea typeface="+mn-ea"/>
                          <a:cs typeface="+mn-cs"/>
                        </a:rPr>
                        <a:t>Rubaiyat</a:t>
                      </a:r>
                      <a:r>
                        <a:rPr lang="en-AU" sz="1400" kern="1200" dirty="0">
                          <a:solidFill>
                            <a:schemeClr val="dk1"/>
                          </a:solidFill>
                          <a:effectLst/>
                          <a:latin typeface="+mn-lt"/>
                          <a:ea typeface="+mn-ea"/>
                          <a:cs typeface="+mn-cs"/>
                        </a:rPr>
                        <a:t> Hossain </a:t>
                      </a:r>
                      <a:r>
                        <a:rPr lang="en-AU" sz="1400" kern="1200" dirty="0" err="1">
                          <a:solidFill>
                            <a:schemeClr val="dk1"/>
                          </a:solidFill>
                          <a:effectLst/>
                          <a:latin typeface="+mn-lt"/>
                          <a:ea typeface="+mn-ea"/>
                          <a:cs typeface="+mn-cs"/>
                        </a:rPr>
                        <a:t>MondalID</a:t>
                      </a:r>
                      <a:endParaRPr lang="en-IN"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kern="1200" dirty="0">
                          <a:solidFill>
                            <a:schemeClr val="dk1"/>
                          </a:solidFill>
                          <a:effectLst/>
                          <a:latin typeface="+mn-lt"/>
                          <a:ea typeface="+mn-ea"/>
                          <a:cs typeface="+mn-cs"/>
                        </a:rPr>
                        <a:t>Data-driven diagnosis of spinal abnormalities using feature selection and machine learning algorithms</a:t>
                      </a:r>
                      <a:endParaRPr lang="en-IN" sz="1400" kern="1200" dirty="0">
                        <a:solidFill>
                          <a:schemeClr val="dk1"/>
                        </a:solidFill>
                        <a:effectLst/>
                        <a:latin typeface="+mn-lt"/>
                        <a:ea typeface="+mn-ea"/>
                        <a:cs typeface="+mn-cs"/>
                      </a:endParaRPr>
                    </a:p>
                    <a:p>
                      <a:endParaRPr lang="en-IN" dirty="0"/>
                    </a:p>
                  </a:txBody>
                  <a:tcPr/>
                </a:tc>
                <a:tc>
                  <a:txBody>
                    <a:bodyPr/>
                    <a:lstStyle/>
                    <a:p>
                      <a:r>
                        <a:rPr lang="en-IN" sz="1400" dirty="0"/>
                        <a:t>2020</a:t>
                      </a:r>
                    </a:p>
                  </a:txBody>
                  <a:tcPr/>
                </a:tc>
                <a:tc>
                  <a:txBody>
                    <a:bodyPr/>
                    <a:lstStyle/>
                    <a:p>
                      <a:r>
                        <a:rPr lang="en-IN" sz="1200" b="1" dirty="0"/>
                        <a:t>Feature Selection</a:t>
                      </a:r>
                      <a:r>
                        <a:rPr lang="en-IN" sz="1200" dirty="0"/>
                        <a:t>: Utilized univariate feature selection (filter method) and Principal Component Analysis (PCA) for feature </a:t>
                      </a:r>
                      <a:r>
                        <a:rPr lang="en-IN" sz="1200" dirty="0" err="1"/>
                        <a:t>extraction.</a:t>
                      </a:r>
                      <a:r>
                        <a:rPr lang="en-IN" sz="1200" b="1" dirty="0" err="1"/>
                        <a:t>Machine</a:t>
                      </a:r>
                      <a:r>
                        <a:rPr lang="en-IN" sz="1200" b="1" dirty="0"/>
                        <a:t> Learning Models</a:t>
                      </a:r>
                      <a:r>
                        <a:rPr lang="en-IN" sz="1200" dirty="0"/>
                        <a:t>: Applied support vector machine (SVM), logistic regression (LR), and bagging ensemble methods (bagging SVM and bagging LR).</a:t>
                      </a:r>
                      <a:r>
                        <a:rPr lang="en-IN" sz="1200" b="1" dirty="0"/>
                        <a:t>Dataset</a:t>
                      </a:r>
                      <a:r>
                        <a:rPr lang="en-IN" sz="1200" dirty="0"/>
                        <a:t>: Used a </a:t>
                      </a:r>
                      <a:r>
                        <a:rPr lang="en-IN" sz="1200" dirty="0" err="1"/>
                        <a:t>Kaggle</a:t>
                      </a:r>
                      <a:r>
                        <a:rPr lang="en-IN" sz="1200" dirty="0"/>
                        <a:t> dataset of 310 samples with a train-test split of 78% training </a:t>
                      </a:r>
                      <a:r>
                        <a:rPr lang="en-IN" sz="1200" dirty="0" err="1"/>
                        <a:t>data.</a:t>
                      </a:r>
                      <a:r>
                        <a:rPr lang="en-IN" sz="1200" b="1" dirty="0" err="1"/>
                        <a:t>Evaluation</a:t>
                      </a:r>
                      <a:r>
                        <a:rPr lang="en-IN" sz="1200" b="1" dirty="0"/>
                        <a:t> Metrics</a:t>
                      </a:r>
                      <a:r>
                        <a:rPr lang="en-IN" sz="1200" dirty="0"/>
                        <a:t>: Assessed models on training/testing accuracy, recall, miss rate, ROC, and precision-recall curves.</a:t>
                      </a:r>
                    </a:p>
                  </a:txBody>
                  <a:tcPr/>
                </a:tc>
                <a:tc>
                  <a:txBody>
                    <a:bodyPr/>
                    <a:lstStyle/>
                    <a:p>
                      <a:r>
                        <a:rPr lang="en-US" sz="1200" b="1" dirty="0"/>
                        <a:t>Model Performance</a:t>
                      </a:r>
                      <a:r>
                        <a:rPr lang="en-US" sz="1200" dirty="0"/>
                        <a:t>: All models achieved similar test accuracy (86.96%), but bagging SVM had superior recall and lower miss </a:t>
                      </a:r>
                      <a:r>
                        <a:rPr lang="en-US" sz="1200" dirty="0" err="1"/>
                        <a:t>rate.</a:t>
                      </a:r>
                      <a:r>
                        <a:rPr lang="en-US" sz="1200" b="1" dirty="0" err="1"/>
                        <a:t>Best</a:t>
                      </a:r>
                      <a:r>
                        <a:rPr lang="en-US" sz="1200" b="1" dirty="0"/>
                        <a:t> Model</a:t>
                      </a:r>
                      <a:r>
                        <a:rPr lang="en-US" sz="1200" dirty="0"/>
                        <a:t>: Bagging SVM emerged as the preferred model for spinal abnormality classification due to its accuracy and reliability in recall.</a:t>
                      </a:r>
                      <a:endParaRPr lang="en-IN" sz="1200" dirty="0"/>
                    </a:p>
                  </a:txBody>
                  <a:tcPr/>
                </a:tc>
                <a:tc>
                  <a:txBody>
                    <a:bodyPr/>
                    <a:lstStyle/>
                    <a:p>
                      <a:r>
                        <a:rPr lang="en-IN" sz="1200" dirty="0"/>
                        <a:t>Enhanced Accuracy,</a:t>
                      </a:r>
                    </a:p>
                    <a:p>
                      <a:r>
                        <a:rPr lang="en-IN" sz="1200" dirty="0"/>
                        <a:t>Comprehensive Evaluation,</a:t>
                      </a:r>
                    </a:p>
                    <a:p>
                      <a:r>
                        <a:rPr lang="en-IN" sz="1200" dirty="0"/>
                        <a:t>Feature Reduction</a:t>
                      </a:r>
                    </a:p>
                    <a:p>
                      <a:endParaRPr lang="en-IN" sz="1200" dirty="0"/>
                    </a:p>
                  </a:txBody>
                  <a:tcPr/>
                </a:tc>
                <a:tc>
                  <a:txBody>
                    <a:bodyPr/>
                    <a:lstStyle/>
                    <a:p>
                      <a:r>
                        <a:rPr lang="en-IN" sz="1200" dirty="0"/>
                        <a:t>Data Limitations,</a:t>
                      </a:r>
                    </a:p>
                    <a:p>
                      <a:r>
                        <a:rPr lang="en-IN" sz="1200" dirty="0"/>
                        <a:t>Computational Complexity</a:t>
                      </a:r>
                    </a:p>
                  </a:txBody>
                  <a:tcPr/>
                </a:tc>
                <a:extLst>
                  <a:ext uri="{0D108BD9-81ED-4DB2-BD59-A6C34878D82A}">
                    <a16:rowId xmlns:a16="http://schemas.microsoft.com/office/drawing/2014/main" val="2924905385"/>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8</a:t>
            </a:fld>
            <a:endParaRPr lang="en-US"/>
          </a:p>
        </p:txBody>
      </p:sp>
    </p:spTree>
    <p:extLst>
      <p:ext uri="{BB962C8B-B14F-4D97-AF65-F5344CB8AC3E}">
        <p14:creationId xmlns:p14="http://schemas.microsoft.com/office/powerpoint/2010/main" val="1168314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SURVEY(5/10)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071754648"/>
              </p:ext>
            </p:extLst>
          </p:nvPr>
        </p:nvGraphicFramePr>
        <p:xfrm>
          <a:off x="457200" y="1447800"/>
          <a:ext cx="8229600" cy="493776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459157026"/>
                    </a:ext>
                  </a:extLst>
                </a:gridCol>
                <a:gridCol w="1066800">
                  <a:extLst>
                    <a:ext uri="{9D8B030D-6E8A-4147-A177-3AD203B41FA5}">
                      <a16:colId xmlns:a16="http://schemas.microsoft.com/office/drawing/2014/main" val="3894779256"/>
                    </a:ext>
                  </a:extLst>
                </a:gridCol>
                <a:gridCol w="1219200">
                  <a:extLst>
                    <a:ext uri="{9D8B030D-6E8A-4147-A177-3AD203B41FA5}">
                      <a16:colId xmlns:a16="http://schemas.microsoft.com/office/drawing/2014/main" val="3749719191"/>
                    </a:ext>
                  </a:extLst>
                </a:gridCol>
                <a:gridCol w="609600">
                  <a:extLst>
                    <a:ext uri="{9D8B030D-6E8A-4147-A177-3AD203B41FA5}">
                      <a16:colId xmlns:a16="http://schemas.microsoft.com/office/drawing/2014/main" val="1430670423"/>
                    </a:ext>
                  </a:extLst>
                </a:gridCol>
                <a:gridCol w="1600200">
                  <a:extLst>
                    <a:ext uri="{9D8B030D-6E8A-4147-A177-3AD203B41FA5}">
                      <a16:colId xmlns:a16="http://schemas.microsoft.com/office/drawing/2014/main" val="629956622"/>
                    </a:ext>
                  </a:extLst>
                </a:gridCol>
                <a:gridCol w="1066800">
                  <a:extLst>
                    <a:ext uri="{9D8B030D-6E8A-4147-A177-3AD203B41FA5}">
                      <a16:colId xmlns:a16="http://schemas.microsoft.com/office/drawing/2014/main" val="4164569729"/>
                    </a:ext>
                  </a:extLst>
                </a:gridCol>
                <a:gridCol w="1028700">
                  <a:extLst>
                    <a:ext uri="{9D8B030D-6E8A-4147-A177-3AD203B41FA5}">
                      <a16:colId xmlns:a16="http://schemas.microsoft.com/office/drawing/2014/main" val="2589544222"/>
                    </a:ext>
                  </a:extLst>
                </a:gridCol>
                <a:gridCol w="1028700">
                  <a:extLst>
                    <a:ext uri="{9D8B030D-6E8A-4147-A177-3AD203B41FA5}">
                      <a16:colId xmlns:a16="http://schemas.microsoft.com/office/drawing/2014/main" val="1820651851"/>
                    </a:ext>
                  </a:extLst>
                </a:gridCol>
              </a:tblGrid>
              <a:tr h="457200">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3077968006"/>
                  </a:ext>
                </a:extLst>
              </a:tr>
              <a:tr h="4446520">
                <a:tc>
                  <a:txBody>
                    <a:bodyPr/>
                    <a:lstStyle/>
                    <a:p>
                      <a:r>
                        <a:rPr lang="en-IN" sz="1600" dirty="0"/>
                        <a:t>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kern="1200" dirty="0" err="1">
                          <a:solidFill>
                            <a:schemeClr val="dk1"/>
                          </a:solidFill>
                          <a:effectLst/>
                          <a:latin typeface="+mn-lt"/>
                          <a:ea typeface="+mn-ea"/>
                          <a:cs typeface="+mn-cs"/>
                        </a:rPr>
                        <a:t>PeiYang</a:t>
                      </a:r>
                      <a:r>
                        <a:rPr lang="en-AU" sz="1400" kern="1200" dirty="0">
                          <a:solidFill>
                            <a:schemeClr val="dk1"/>
                          </a:solidFill>
                          <a:effectLst/>
                          <a:latin typeface="+mn-lt"/>
                          <a:ea typeface="+mn-ea"/>
                          <a:cs typeface="+mn-cs"/>
                        </a:rPr>
                        <a:t> Wang, MD1 , Wei Zhang, MS1 , Yong Huang, MD1 , </a:t>
                      </a:r>
                      <a:r>
                        <a:rPr lang="en-AU" sz="1400" kern="1200" dirty="0" err="1">
                          <a:solidFill>
                            <a:schemeClr val="dk1"/>
                          </a:solidFill>
                          <a:effectLst/>
                          <a:latin typeface="+mn-lt"/>
                          <a:ea typeface="+mn-ea"/>
                          <a:cs typeface="+mn-cs"/>
                        </a:rPr>
                        <a:t>YunTao</a:t>
                      </a:r>
                      <a:r>
                        <a:rPr lang="en-AU" sz="1400" kern="1200" dirty="0">
                          <a:solidFill>
                            <a:schemeClr val="dk1"/>
                          </a:solidFill>
                          <a:effectLst/>
                          <a:latin typeface="+mn-lt"/>
                          <a:ea typeface="+mn-ea"/>
                          <a:cs typeface="+mn-cs"/>
                        </a:rPr>
                        <a:t> Wang, PhD3 , and </a:t>
                      </a:r>
                      <a:r>
                        <a:rPr lang="en-AU" sz="1400" kern="1200" dirty="0" err="1">
                          <a:solidFill>
                            <a:schemeClr val="dk1"/>
                          </a:solidFill>
                          <a:effectLst/>
                          <a:latin typeface="+mn-lt"/>
                          <a:ea typeface="+mn-ea"/>
                          <a:cs typeface="+mn-cs"/>
                        </a:rPr>
                        <a:t>XiaoTao</a:t>
                      </a:r>
                      <a:r>
                        <a:rPr lang="en-AU" sz="1400" kern="1200" dirty="0">
                          <a:solidFill>
                            <a:schemeClr val="dk1"/>
                          </a:solidFill>
                          <a:effectLst/>
                          <a:latin typeface="+mn-lt"/>
                          <a:ea typeface="+mn-ea"/>
                          <a:cs typeface="+mn-cs"/>
                        </a:rPr>
                        <a:t> Wu, MD</a:t>
                      </a:r>
                      <a:endParaRPr lang="en-IN" sz="1400" kern="1200" dirty="0">
                        <a:solidFill>
                          <a:schemeClr val="dk1"/>
                        </a:solidFill>
                        <a:effectLst/>
                        <a:latin typeface="+mn-lt"/>
                        <a:ea typeface="+mn-ea"/>
                        <a:cs typeface="+mn-cs"/>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kern="1200" dirty="0">
                          <a:solidFill>
                            <a:schemeClr val="dk1"/>
                          </a:solidFill>
                          <a:effectLst/>
                          <a:latin typeface="+mn-lt"/>
                          <a:ea typeface="+mn-ea"/>
                          <a:cs typeface="+mn-cs"/>
                        </a:rPr>
                        <a:t>Current Applications of Machine Learning in Spine: From Clinical View</a:t>
                      </a:r>
                      <a:endParaRPr lang="en-IN" sz="1400" kern="1200" dirty="0">
                        <a:solidFill>
                          <a:schemeClr val="dk1"/>
                        </a:solidFill>
                        <a:effectLst/>
                        <a:latin typeface="+mn-lt"/>
                        <a:ea typeface="+mn-ea"/>
                        <a:cs typeface="+mn-cs"/>
                      </a:endParaRPr>
                    </a:p>
                    <a:p>
                      <a:endParaRPr lang="en-IN" sz="1400" dirty="0"/>
                    </a:p>
                  </a:txBody>
                  <a:tcPr/>
                </a:tc>
                <a:tc>
                  <a:txBody>
                    <a:bodyPr/>
                    <a:lstStyle/>
                    <a:p>
                      <a:r>
                        <a:rPr lang="en-IN" sz="1200" dirty="0"/>
                        <a:t>2020</a:t>
                      </a:r>
                    </a:p>
                  </a:txBody>
                  <a:tcPr/>
                </a:tc>
                <a:tc>
                  <a:txBody>
                    <a:bodyPr/>
                    <a:lstStyle/>
                    <a:p>
                      <a:r>
                        <a:rPr lang="en-US" sz="1200" b="1" dirty="0"/>
                        <a:t>Literature Review</a:t>
                      </a:r>
                      <a:r>
                        <a:rPr lang="en-US" sz="1200" dirty="0"/>
                        <a:t>: Conducted a comprehensive PubMed search (2006–2020) focusing on ML applications in the spine </a:t>
                      </a:r>
                      <a:r>
                        <a:rPr lang="en-US" sz="1200" dirty="0" err="1"/>
                        <a:t>domain.</a:t>
                      </a:r>
                      <a:r>
                        <a:rPr lang="en-US" sz="1200" b="1" dirty="0" err="1"/>
                        <a:t>Article</a:t>
                      </a:r>
                      <a:r>
                        <a:rPr lang="en-US" sz="1200" b="1" dirty="0"/>
                        <a:t> Screening</a:t>
                      </a:r>
                      <a:r>
                        <a:rPr lang="en-US" sz="1200" dirty="0"/>
                        <a:t>: Screened 1738 articles, ultimately including 292 studies after excluding irrelevant or incomplete </a:t>
                      </a:r>
                      <a:r>
                        <a:rPr lang="en-US" sz="1200" dirty="0" err="1"/>
                        <a:t>research.</a:t>
                      </a:r>
                      <a:r>
                        <a:rPr lang="en-US" sz="1200" b="1" dirty="0" err="1"/>
                        <a:t>Focus</a:t>
                      </a:r>
                      <a:r>
                        <a:rPr lang="en-US" sz="1200" b="1" dirty="0"/>
                        <a:t> Areas</a:t>
                      </a:r>
                      <a:r>
                        <a:rPr lang="en-US" sz="1200" dirty="0"/>
                        <a:t>: Summarized findings on ML applications in imaging, diagnostics, decision support, operative assistance, rehabilitation, outcomes, complications, and healthcare costs.</a:t>
                      </a:r>
                      <a:endParaRPr lang="en-IN" sz="1200"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75447359"/>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2709222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SURVEY(6/10)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55792738"/>
              </p:ext>
            </p:extLst>
          </p:nvPr>
        </p:nvGraphicFramePr>
        <p:xfrm>
          <a:off x="457200" y="1371600"/>
          <a:ext cx="8382000" cy="5174825"/>
        </p:xfrm>
        <a:graphic>
          <a:graphicData uri="http://schemas.openxmlformats.org/drawingml/2006/table">
            <a:tbl>
              <a:tblPr firstRow="1" bandRow="1">
                <a:tableStyleId>{5C22544A-7EE6-4342-B048-85BDC9FD1C3A}</a:tableStyleId>
              </a:tblPr>
              <a:tblGrid>
                <a:gridCol w="620889">
                  <a:extLst>
                    <a:ext uri="{9D8B030D-6E8A-4147-A177-3AD203B41FA5}">
                      <a16:colId xmlns:a16="http://schemas.microsoft.com/office/drawing/2014/main" val="2169284841"/>
                    </a:ext>
                  </a:extLst>
                </a:gridCol>
                <a:gridCol w="1070892">
                  <a:extLst>
                    <a:ext uri="{9D8B030D-6E8A-4147-A177-3AD203B41FA5}">
                      <a16:colId xmlns:a16="http://schemas.microsoft.com/office/drawing/2014/main" val="4060033799"/>
                    </a:ext>
                  </a:extLst>
                </a:gridCol>
                <a:gridCol w="1451469">
                  <a:extLst>
                    <a:ext uri="{9D8B030D-6E8A-4147-A177-3AD203B41FA5}">
                      <a16:colId xmlns:a16="http://schemas.microsoft.com/office/drawing/2014/main" val="3151214038"/>
                    </a:ext>
                  </a:extLst>
                </a:gridCol>
                <a:gridCol w="582084">
                  <a:extLst>
                    <a:ext uri="{9D8B030D-6E8A-4147-A177-3AD203B41FA5}">
                      <a16:colId xmlns:a16="http://schemas.microsoft.com/office/drawing/2014/main" val="981928899"/>
                    </a:ext>
                  </a:extLst>
                </a:gridCol>
                <a:gridCol w="1580704">
                  <a:extLst>
                    <a:ext uri="{9D8B030D-6E8A-4147-A177-3AD203B41FA5}">
                      <a16:colId xmlns:a16="http://schemas.microsoft.com/office/drawing/2014/main" val="1196288484"/>
                    </a:ext>
                  </a:extLst>
                </a:gridCol>
                <a:gridCol w="1153486">
                  <a:extLst>
                    <a:ext uri="{9D8B030D-6E8A-4147-A177-3AD203B41FA5}">
                      <a16:colId xmlns:a16="http://schemas.microsoft.com/office/drawing/2014/main" val="528965749"/>
                    </a:ext>
                  </a:extLst>
                </a:gridCol>
                <a:gridCol w="931876">
                  <a:extLst>
                    <a:ext uri="{9D8B030D-6E8A-4147-A177-3AD203B41FA5}">
                      <a16:colId xmlns:a16="http://schemas.microsoft.com/office/drawing/2014/main" val="1259236859"/>
                    </a:ext>
                  </a:extLst>
                </a:gridCol>
                <a:gridCol w="990600">
                  <a:extLst>
                    <a:ext uri="{9D8B030D-6E8A-4147-A177-3AD203B41FA5}">
                      <a16:colId xmlns:a16="http://schemas.microsoft.com/office/drawing/2014/main" val="3281754496"/>
                    </a:ext>
                  </a:extLst>
                </a:gridCol>
              </a:tblGrid>
              <a:tr h="389464">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1326408987"/>
                  </a:ext>
                </a:extLst>
              </a:tr>
              <a:tr h="4785361">
                <a:tc>
                  <a:txBody>
                    <a:bodyPr/>
                    <a:lstStyle/>
                    <a:p>
                      <a:r>
                        <a:rPr lang="en-IN" sz="1400" dirty="0"/>
                        <a:t>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err="1">
                          <a:effectLst/>
                          <a:latin typeface="Arial" panose="020B0604020202020204" pitchFamily="34" charset="0"/>
                          <a:ea typeface="Calibri" panose="020F0502020204030204" pitchFamily="34" charset="0"/>
                          <a:cs typeface="Arial" panose="020B0604020202020204" pitchFamily="34" charset="0"/>
                        </a:rPr>
                        <a:t>Jyoti</a:t>
                      </a:r>
                      <a:r>
                        <a:rPr lang="en-AU" sz="1400" dirty="0">
                          <a:effectLst/>
                          <a:latin typeface="Arial" panose="020B0604020202020204" pitchFamily="34" charset="0"/>
                          <a:ea typeface="Calibri" panose="020F0502020204030204" pitchFamily="34" charset="0"/>
                          <a:cs typeface="Arial" panose="020B0604020202020204" pitchFamily="34" charset="0"/>
                        </a:rPr>
                        <a:t> Waykule1 , </a:t>
                      </a:r>
                      <a:r>
                        <a:rPr lang="en-AU" sz="1400" dirty="0" err="1">
                          <a:effectLst/>
                          <a:latin typeface="Arial" panose="020B0604020202020204" pitchFamily="34" charset="0"/>
                          <a:ea typeface="Calibri" panose="020F0502020204030204" pitchFamily="34" charset="0"/>
                          <a:cs typeface="Arial" panose="020B0604020202020204" pitchFamily="34" charset="0"/>
                        </a:rPr>
                        <a:t>Swaliha</a:t>
                      </a:r>
                      <a:r>
                        <a:rPr lang="en-AU" sz="1400" dirty="0">
                          <a:effectLst/>
                          <a:latin typeface="Arial" panose="020B0604020202020204" pitchFamily="34" charset="0"/>
                          <a:ea typeface="Calibri" panose="020F0502020204030204" pitchFamily="34" charset="0"/>
                          <a:cs typeface="Arial" panose="020B0604020202020204" pitchFamily="34" charset="0"/>
                        </a:rPr>
                        <a:t> Maindergi2 , </a:t>
                      </a:r>
                      <a:r>
                        <a:rPr lang="en-AU" sz="1400" dirty="0" err="1">
                          <a:effectLst/>
                          <a:latin typeface="Arial" panose="020B0604020202020204" pitchFamily="34" charset="0"/>
                          <a:ea typeface="Calibri" panose="020F0502020204030204" pitchFamily="34" charset="0"/>
                          <a:cs typeface="Arial" panose="020B0604020202020204" pitchFamily="34" charset="0"/>
                        </a:rPr>
                        <a:t>Prajkta</a:t>
                      </a:r>
                      <a:r>
                        <a:rPr lang="en-AU" sz="1400" dirty="0">
                          <a:effectLst/>
                          <a:latin typeface="Arial" panose="020B0604020202020204" pitchFamily="34" charset="0"/>
                          <a:ea typeface="Calibri" panose="020F0502020204030204" pitchFamily="34" charset="0"/>
                          <a:cs typeface="Arial" panose="020B0604020202020204" pitchFamily="34" charset="0"/>
                        </a:rPr>
                        <a:t> Patil3 , </a:t>
                      </a:r>
                      <a:r>
                        <a:rPr lang="en-AU" sz="1400" dirty="0" err="1">
                          <a:effectLst/>
                          <a:latin typeface="Arial" panose="020B0604020202020204" pitchFamily="34" charset="0"/>
                          <a:ea typeface="Calibri" panose="020F0502020204030204" pitchFamily="34" charset="0"/>
                          <a:cs typeface="Arial" panose="020B0604020202020204" pitchFamily="34" charset="0"/>
                        </a:rPr>
                        <a:t>Pramodini</a:t>
                      </a:r>
                      <a:r>
                        <a:rPr lang="en-AU" sz="1400" dirty="0">
                          <a:effectLst/>
                          <a:latin typeface="Arial" panose="020B0604020202020204" pitchFamily="34" charset="0"/>
                          <a:ea typeface="Calibri" panose="020F0502020204030204" pitchFamily="34" charset="0"/>
                          <a:cs typeface="Arial" panose="020B0604020202020204" pitchFamily="34" charset="0"/>
                        </a:rPr>
                        <a:t> Kanase4</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Spine Diseases Detection Using Image Processing.</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dirty="0"/>
                    </a:p>
                  </a:txBody>
                  <a:tcPr/>
                </a:tc>
                <a:tc>
                  <a:txBody>
                    <a:bodyPr/>
                    <a:lstStyle/>
                    <a:p>
                      <a:r>
                        <a:rPr lang="en-IN" sz="1400" dirty="0"/>
                        <a:t>2020</a:t>
                      </a:r>
                    </a:p>
                  </a:txBody>
                  <a:tcPr/>
                </a:tc>
                <a:tc>
                  <a:txBody>
                    <a:bodyPr/>
                    <a:lstStyle/>
                    <a:p>
                      <a:r>
                        <a:rPr lang="en-IN" sz="1400" b="1" dirty="0"/>
                        <a:t>Image Processing Tools</a:t>
                      </a:r>
                      <a:r>
                        <a:rPr lang="en-IN" sz="1400" dirty="0"/>
                        <a:t>: Utilizes MATLAB’s Image Processing Toolbox for reading, processing, visualizing, and saving </a:t>
                      </a:r>
                      <a:r>
                        <a:rPr lang="en-IN" sz="1400" dirty="0" err="1"/>
                        <a:t>images.</a:t>
                      </a:r>
                      <a:r>
                        <a:rPr lang="en-IN" sz="1400" b="1" dirty="0" err="1"/>
                        <a:t>Feature</a:t>
                      </a:r>
                      <a:r>
                        <a:rPr lang="en-IN" sz="1400" b="1" dirty="0"/>
                        <a:t> Extraction</a:t>
                      </a:r>
                      <a:r>
                        <a:rPr lang="en-IN" sz="1400" dirty="0"/>
                        <a:t>: Applies Histogram of Oriented Gradients (HOG) to extract image </a:t>
                      </a:r>
                      <a:r>
                        <a:rPr lang="en-IN" sz="1400" dirty="0" err="1"/>
                        <a:t>features.</a:t>
                      </a:r>
                      <a:r>
                        <a:rPr lang="en-IN" sz="1400" b="1" dirty="0" err="1"/>
                        <a:t>Classification</a:t>
                      </a:r>
                      <a:r>
                        <a:rPr lang="en-IN" sz="1400" b="1" dirty="0"/>
                        <a:t> Model</a:t>
                      </a:r>
                      <a:r>
                        <a:rPr lang="en-IN" sz="1400" dirty="0"/>
                        <a:t>: Uses Support Vector Machine (SVM) for boundary regression in biomedical image segmentation.</a:t>
                      </a:r>
                    </a:p>
                  </a:txBody>
                  <a:tcPr/>
                </a:tc>
                <a:tc>
                  <a:txBody>
                    <a:bodyPr/>
                    <a:lstStyle/>
                    <a:p>
                      <a:r>
                        <a:rPr lang="en-US" sz="1400" b="1" dirty="0"/>
                        <a:t>Spine Disease Detection</a:t>
                      </a:r>
                      <a:r>
                        <a:rPr lang="en-US" sz="1400" dirty="0"/>
                        <a:t>: HOG and SVM, combined with MATLAB processing tools, are effective for segmenting and identifying features relevant to spine disease diagnosis.</a:t>
                      </a:r>
                      <a:endParaRPr lang="en-IN" sz="1400" dirty="0"/>
                    </a:p>
                  </a:txBody>
                  <a:tcPr/>
                </a:tc>
                <a:tc>
                  <a:txBody>
                    <a:bodyPr/>
                    <a:lstStyle/>
                    <a:p>
                      <a:r>
                        <a:rPr lang="en-IN" sz="1400" dirty="0"/>
                        <a:t>Efficient Feature Extraction</a:t>
                      </a:r>
                    </a:p>
                    <a:p>
                      <a:r>
                        <a:rPr lang="en-IN" sz="1400" dirty="0"/>
                        <a:t>Automation Potential</a:t>
                      </a:r>
                    </a:p>
                  </a:txBody>
                  <a:tcPr/>
                </a:tc>
                <a:tc>
                  <a:txBody>
                    <a:bodyPr/>
                    <a:lstStyle/>
                    <a:p>
                      <a:r>
                        <a:rPr lang="en-IN" sz="1400" dirty="0"/>
                        <a:t>Tool Dependency,</a:t>
                      </a:r>
                    </a:p>
                    <a:p>
                      <a:r>
                        <a:rPr lang="en-IN" sz="1400" dirty="0"/>
                        <a:t>Limited Scope</a:t>
                      </a:r>
                    </a:p>
                  </a:txBody>
                  <a:tcPr/>
                </a:tc>
                <a:extLst>
                  <a:ext uri="{0D108BD9-81ED-4DB2-BD59-A6C34878D82A}">
                    <a16:rowId xmlns:a16="http://schemas.microsoft.com/office/drawing/2014/main" val="250042183"/>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1436966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SURVEY(7/10)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553059656"/>
              </p:ext>
            </p:extLst>
          </p:nvPr>
        </p:nvGraphicFramePr>
        <p:xfrm>
          <a:off x="457200" y="1371600"/>
          <a:ext cx="8305800" cy="5065059"/>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191649309"/>
                    </a:ext>
                  </a:extLst>
                </a:gridCol>
                <a:gridCol w="990600">
                  <a:extLst>
                    <a:ext uri="{9D8B030D-6E8A-4147-A177-3AD203B41FA5}">
                      <a16:colId xmlns:a16="http://schemas.microsoft.com/office/drawing/2014/main" val="2433892148"/>
                    </a:ext>
                  </a:extLst>
                </a:gridCol>
                <a:gridCol w="1524000">
                  <a:extLst>
                    <a:ext uri="{9D8B030D-6E8A-4147-A177-3AD203B41FA5}">
                      <a16:colId xmlns:a16="http://schemas.microsoft.com/office/drawing/2014/main" val="3650790203"/>
                    </a:ext>
                  </a:extLst>
                </a:gridCol>
                <a:gridCol w="685800">
                  <a:extLst>
                    <a:ext uri="{9D8B030D-6E8A-4147-A177-3AD203B41FA5}">
                      <a16:colId xmlns:a16="http://schemas.microsoft.com/office/drawing/2014/main" val="2163315287"/>
                    </a:ext>
                  </a:extLst>
                </a:gridCol>
                <a:gridCol w="1381125">
                  <a:extLst>
                    <a:ext uri="{9D8B030D-6E8A-4147-A177-3AD203B41FA5}">
                      <a16:colId xmlns:a16="http://schemas.microsoft.com/office/drawing/2014/main" val="2774298044"/>
                    </a:ext>
                  </a:extLst>
                </a:gridCol>
                <a:gridCol w="1038225">
                  <a:extLst>
                    <a:ext uri="{9D8B030D-6E8A-4147-A177-3AD203B41FA5}">
                      <a16:colId xmlns:a16="http://schemas.microsoft.com/office/drawing/2014/main" val="493042874"/>
                    </a:ext>
                  </a:extLst>
                </a:gridCol>
                <a:gridCol w="1038225">
                  <a:extLst>
                    <a:ext uri="{9D8B030D-6E8A-4147-A177-3AD203B41FA5}">
                      <a16:colId xmlns:a16="http://schemas.microsoft.com/office/drawing/2014/main" val="2971724869"/>
                    </a:ext>
                  </a:extLst>
                </a:gridCol>
                <a:gridCol w="1038225">
                  <a:extLst>
                    <a:ext uri="{9D8B030D-6E8A-4147-A177-3AD203B41FA5}">
                      <a16:colId xmlns:a16="http://schemas.microsoft.com/office/drawing/2014/main" val="459653535"/>
                    </a:ext>
                  </a:extLst>
                </a:gridCol>
              </a:tblGrid>
              <a:tr h="399008">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3224142278"/>
                  </a:ext>
                </a:extLst>
              </a:tr>
              <a:tr h="4666051">
                <a:tc>
                  <a:txBody>
                    <a:bodyPr/>
                    <a:lstStyle/>
                    <a:p>
                      <a:r>
                        <a:rPr lang="en-IN" sz="1400" dirty="0"/>
                        <a:t>7</a:t>
                      </a:r>
                    </a:p>
                  </a:txBody>
                  <a:tcPr/>
                </a:tc>
                <a:tc>
                  <a:txBody>
                    <a:bodyPr/>
                    <a:lstStyle/>
                    <a:p>
                      <a:r>
                        <a:rPr lang="en-IN" sz="1400" dirty="0"/>
                        <a:t>Swansea </a:t>
                      </a:r>
                    </a:p>
                  </a:txBody>
                  <a:tcPr/>
                </a:tc>
                <a:tc>
                  <a:txBody>
                    <a:bodyPr/>
                    <a:lstStyle/>
                    <a:p>
                      <a:r>
                        <a:rPr lang="en-IN" sz="1600" dirty="0"/>
                        <a:t>Spinal tumours</a:t>
                      </a:r>
                    </a:p>
                  </a:txBody>
                  <a:tcPr/>
                </a:tc>
                <a:tc>
                  <a:txBody>
                    <a:bodyPr/>
                    <a:lstStyle/>
                    <a:p>
                      <a:r>
                        <a:rPr lang="en-IN" sz="1400" dirty="0"/>
                        <a:t>2022</a:t>
                      </a:r>
                    </a:p>
                  </a:txBody>
                  <a:tcPr/>
                </a:tc>
                <a:tc>
                  <a:txBody>
                    <a:bodyPr/>
                    <a:lstStyle/>
                    <a:p>
                      <a:r>
                        <a:rPr lang="en-US" sz="1200" dirty="0"/>
                        <a:t>clinical research, observational studies, or case analyses focused on the types of spinal </a:t>
                      </a:r>
                      <a:r>
                        <a:rPr lang="en-US" sz="1200" dirty="0" err="1"/>
                        <a:t>tumours</a:t>
                      </a:r>
                      <a:r>
                        <a:rPr lang="en-US" sz="1200" dirty="0"/>
                        <a:t> and their </a:t>
                      </a:r>
                      <a:r>
                        <a:rPr lang="en-US" sz="1200" dirty="0" err="1"/>
                        <a:t>origins.Research</a:t>
                      </a:r>
                      <a:r>
                        <a:rPr lang="en-US" sz="1200" dirty="0"/>
                        <a:t> methods might include </a:t>
                      </a:r>
                      <a:r>
                        <a:rPr lang="en-US" sz="1200" b="1" dirty="0"/>
                        <a:t>diagnostic imaging</a:t>
                      </a:r>
                      <a:r>
                        <a:rPr lang="en-US" sz="1200" dirty="0"/>
                        <a:t>, </a:t>
                      </a:r>
                      <a:r>
                        <a:rPr lang="en-US" sz="1200" b="1" dirty="0"/>
                        <a:t>biopsy analysis</a:t>
                      </a:r>
                      <a:r>
                        <a:rPr lang="en-US" sz="1200" dirty="0"/>
                        <a:t>, or </a:t>
                      </a:r>
                      <a:r>
                        <a:rPr lang="en-US" sz="1200" b="1" dirty="0"/>
                        <a:t>longitudinal studies</a:t>
                      </a:r>
                      <a:r>
                        <a:rPr lang="en-US" sz="1200" dirty="0"/>
                        <a:t> tracking patients with spinal </a:t>
                      </a:r>
                      <a:r>
                        <a:rPr lang="en-US" sz="1200" dirty="0" err="1"/>
                        <a:t>tumours</a:t>
                      </a:r>
                      <a:r>
                        <a:rPr lang="en-US" sz="1200" dirty="0"/>
                        <a:t> to understand their progression and origins (primary vs. metastatic).</a:t>
                      </a:r>
                      <a:endParaRPr lang="en-IN" sz="1200" dirty="0"/>
                    </a:p>
                  </a:txBody>
                  <a:tcPr/>
                </a:tc>
                <a:tc>
                  <a:txBody>
                    <a:bodyPr/>
                    <a:lstStyle/>
                    <a:p>
                      <a:r>
                        <a:rPr lang="en-US" sz="1200" b="1" dirty="0"/>
                        <a:t>Primary spinal </a:t>
                      </a:r>
                      <a:r>
                        <a:rPr lang="en-US" sz="1200" b="1" dirty="0" err="1"/>
                        <a:t>tumours</a:t>
                      </a:r>
                      <a:r>
                        <a:rPr lang="en-US" sz="1200" dirty="0"/>
                        <a:t> do not yet have a known cause, nor is there a clear reason why some are malignant and others are </a:t>
                      </a:r>
                      <a:r>
                        <a:rPr lang="en-US" sz="1200" dirty="0" err="1"/>
                        <a:t>not.</a:t>
                      </a:r>
                      <a:r>
                        <a:rPr lang="en-US" sz="1200" b="1" dirty="0" err="1"/>
                        <a:t>Secondary</a:t>
                      </a:r>
                      <a:r>
                        <a:rPr lang="en-US" sz="1200" b="1" dirty="0"/>
                        <a:t> spinal </a:t>
                      </a:r>
                      <a:r>
                        <a:rPr lang="en-US" sz="1200" b="1" dirty="0" err="1"/>
                        <a:t>tumours</a:t>
                      </a:r>
                      <a:r>
                        <a:rPr lang="en-US" sz="1200" dirty="0"/>
                        <a:t> are always the result of </a:t>
                      </a:r>
                      <a:r>
                        <a:rPr lang="en-US" sz="1200" b="1" dirty="0"/>
                        <a:t>metastasis</a:t>
                      </a:r>
                      <a:r>
                        <a:rPr lang="en-US" sz="1200" dirty="0"/>
                        <a:t> from another cancerous </a:t>
                      </a:r>
                      <a:r>
                        <a:rPr lang="en-US" sz="1200" dirty="0" err="1"/>
                        <a:t>tumour</a:t>
                      </a:r>
                      <a:r>
                        <a:rPr lang="en-US" sz="1200" dirty="0"/>
                        <a:t> in the body.</a:t>
                      </a:r>
                      <a:endParaRPr lang="en-IN" sz="1200" dirty="0"/>
                    </a:p>
                  </a:txBody>
                  <a:tcPr/>
                </a:tc>
                <a:tc>
                  <a:txBody>
                    <a:bodyPr/>
                    <a:lstStyle/>
                    <a:p>
                      <a:r>
                        <a:rPr lang="en-IN" sz="1200" dirty="0"/>
                        <a:t>Clarity of distinction,</a:t>
                      </a:r>
                    </a:p>
                    <a:p>
                      <a:r>
                        <a:rPr lang="en-IN" sz="1200" dirty="0"/>
                        <a:t>current gap in knowledge,</a:t>
                      </a:r>
                    </a:p>
                    <a:p>
                      <a:r>
                        <a:rPr lang="en-IN" sz="1200" dirty="0"/>
                        <a:t>brief and concise</a:t>
                      </a:r>
                    </a:p>
                  </a:txBody>
                  <a:tcPr/>
                </a:tc>
                <a:tc>
                  <a:txBody>
                    <a:bodyPr/>
                    <a:lstStyle/>
                    <a:p>
                      <a:r>
                        <a:rPr lang="en-IN" sz="1200" dirty="0"/>
                        <a:t>specific research methods,</a:t>
                      </a:r>
                    </a:p>
                    <a:p>
                      <a:r>
                        <a:rPr lang="en-IN" sz="1200" dirty="0"/>
                        <a:t>mechanisms or potential factors,</a:t>
                      </a:r>
                    </a:p>
                    <a:p>
                      <a:r>
                        <a:rPr lang="en-US" sz="1200" dirty="0"/>
                        <a:t>absence of context or evidence</a:t>
                      </a:r>
                      <a:endParaRPr lang="en-IN" sz="1200" dirty="0"/>
                    </a:p>
                  </a:txBody>
                  <a:tcPr/>
                </a:tc>
                <a:extLst>
                  <a:ext uri="{0D108BD9-81ED-4DB2-BD59-A6C34878D82A}">
                    <a16:rowId xmlns:a16="http://schemas.microsoft.com/office/drawing/2014/main" val="2826283573"/>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207544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SURVEY(8/10)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831270656"/>
              </p:ext>
            </p:extLst>
          </p:nvPr>
        </p:nvGraphicFramePr>
        <p:xfrm>
          <a:off x="457200" y="1371600"/>
          <a:ext cx="8305800" cy="4941306"/>
        </p:xfrm>
        <a:graphic>
          <a:graphicData uri="http://schemas.openxmlformats.org/drawingml/2006/table">
            <a:tbl>
              <a:tblPr firstRow="1" bandRow="1">
                <a:tableStyleId>{5C22544A-7EE6-4342-B048-85BDC9FD1C3A}</a:tableStyleId>
              </a:tblPr>
              <a:tblGrid>
                <a:gridCol w="615244">
                  <a:extLst>
                    <a:ext uri="{9D8B030D-6E8A-4147-A177-3AD203B41FA5}">
                      <a16:colId xmlns:a16="http://schemas.microsoft.com/office/drawing/2014/main" val="2574962561"/>
                    </a:ext>
                  </a:extLst>
                </a:gridCol>
                <a:gridCol w="1061156">
                  <a:extLst>
                    <a:ext uri="{9D8B030D-6E8A-4147-A177-3AD203B41FA5}">
                      <a16:colId xmlns:a16="http://schemas.microsoft.com/office/drawing/2014/main" val="3333636014"/>
                    </a:ext>
                  </a:extLst>
                </a:gridCol>
                <a:gridCol w="1438275">
                  <a:extLst>
                    <a:ext uri="{9D8B030D-6E8A-4147-A177-3AD203B41FA5}">
                      <a16:colId xmlns:a16="http://schemas.microsoft.com/office/drawing/2014/main" val="2303730352"/>
                    </a:ext>
                  </a:extLst>
                </a:gridCol>
                <a:gridCol w="653697">
                  <a:extLst>
                    <a:ext uri="{9D8B030D-6E8A-4147-A177-3AD203B41FA5}">
                      <a16:colId xmlns:a16="http://schemas.microsoft.com/office/drawing/2014/main" val="4216230940"/>
                    </a:ext>
                  </a:extLst>
                </a:gridCol>
                <a:gridCol w="1422753">
                  <a:extLst>
                    <a:ext uri="{9D8B030D-6E8A-4147-A177-3AD203B41FA5}">
                      <a16:colId xmlns:a16="http://schemas.microsoft.com/office/drawing/2014/main" val="2581993335"/>
                    </a:ext>
                  </a:extLst>
                </a:gridCol>
                <a:gridCol w="1133475">
                  <a:extLst>
                    <a:ext uri="{9D8B030D-6E8A-4147-A177-3AD203B41FA5}">
                      <a16:colId xmlns:a16="http://schemas.microsoft.com/office/drawing/2014/main" val="1984289681"/>
                    </a:ext>
                  </a:extLst>
                </a:gridCol>
                <a:gridCol w="990600">
                  <a:extLst>
                    <a:ext uri="{9D8B030D-6E8A-4147-A177-3AD203B41FA5}">
                      <a16:colId xmlns:a16="http://schemas.microsoft.com/office/drawing/2014/main" val="889556576"/>
                    </a:ext>
                  </a:extLst>
                </a:gridCol>
                <a:gridCol w="990600">
                  <a:extLst>
                    <a:ext uri="{9D8B030D-6E8A-4147-A177-3AD203B41FA5}">
                      <a16:colId xmlns:a16="http://schemas.microsoft.com/office/drawing/2014/main" val="4244753948"/>
                    </a:ext>
                  </a:extLst>
                </a:gridCol>
              </a:tblGrid>
              <a:tr h="381000">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2843505400"/>
                  </a:ext>
                </a:extLst>
              </a:tr>
              <a:tr h="4560306">
                <a:tc>
                  <a:txBody>
                    <a:bodyPr/>
                    <a:lstStyle/>
                    <a:p>
                      <a:r>
                        <a:rPr lang="en-IN" sz="1600" dirty="0"/>
                        <a:t>8</a:t>
                      </a:r>
                    </a:p>
                  </a:txBody>
                  <a:tcPr/>
                </a:tc>
                <a:tc>
                  <a:txBody>
                    <a:bodyPr/>
                    <a:lstStyle/>
                    <a:p>
                      <a:r>
                        <a:rPr lang="en-IN" dirty="0"/>
                        <a:t>James gosling</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Artificial Intelligence in Spinal Imaging and Patient Care: A Review of Recent Advances</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dirty="0"/>
                    </a:p>
                  </a:txBody>
                  <a:tcPr/>
                </a:tc>
                <a:tc>
                  <a:txBody>
                    <a:bodyPr/>
                    <a:lstStyle/>
                    <a:p>
                      <a:r>
                        <a:rPr lang="en-IN" sz="1400" dirty="0"/>
                        <a:t>2024</a:t>
                      </a:r>
                    </a:p>
                  </a:txBody>
                  <a:tcPr/>
                </a:tc>
                <a:tc>
                  <a:txBody>
                    <a:bodyPr/>
                    <a:lstStyle/>
                    <a:p>
                      <a:r>
                        <a:rPr lang="en-US" sz="1400" dirty="0"/>
                        <a:t>Clinical task-based evaluation of AI in spinal imaging, focusing on </a:t>
                      </a:r>
                      <a:r>
                        <a:rPr lang="en-US" sz="1400" b="1" dirty="0"/>
                        <a:t>image enhancement</a:t>
                      </a:r>
                      <a:r>
                        <a:rPr lang="en-US" sz="1400" dirty="0"/>
                        <a:t>, </a:t>
                      </a:r>
                      <a:r>
                        <a:rPr lang="en-US" sz="1400" b="1" dirty="0"/>
                        <a:t>quantification</a:t>
                      </a:r>
                      <a:r>
                        <a:rPr lang="en-US" sz="1400" dirty="0"/>
                        <a:t>, </a:t>
                      </a:r>
                      <a:r>
                        <a:rPr lang="en-US" sz="1400" b="1" dirty="0"/>
                        <a:t>pathology detection</a:t>
                      </a:r>
                      <a:r>
                        <a:rPr lang="en-US" sz="1400" dirty="0"/>
                        <a:t>, and </a:t>
                      </a:r>
                      <a:r>
                        <a:rPr lang="en-US" sz="1400" b="1" dirty="0"/>
                        <a:t>surgical planning</a:t>
                      </a:r>
                      <a:r>
                        <a:rPr lang="en-US" sz="1400" dirty="0"/>
                        <a:t>.</a:t>
                      </a:r>
                      <a:endParaRPr lang="en-IN" sz="1400" dirty="0"/>
                    </a:p>
                  </a:txBody>
                  <a:tcPr/>
                </a:tc>
                <a:tc>
                  <a:txBody>
                    <a:bodyPr/>
                    <a:lstStyle/>
                    <a:p>
                      <a:r>
                        <a:rPr lang="en-US" sz="1400" b="1" dirty="0"/>
                        <a:t>AI</a:t>
                      </a:r>
                      <a:r>
                        <a:rPr lang="en-US" sz="1400" dirty="0"/>
                        <a:t> improves diagnostic accuracy, aids in surgical planning, and enables </a:t>
                      </a:r>
                      <a:r>
                        <a:rPr lang="en-US" sz="1400" b="1" dirty="0"/>
                        <a:t>personalized treatment</a:t>
                      </a:r>
                      <a:r>
                        <a:rPr lang="en-US" sz="1400" dirty="0"/>
                        <a:t> predictions, but faces challenges in </a:t>
                      </a:r>
                      <a:r>
                        <a:rPr lang="en-US" sz="1400" b="1" dirty="0"/>
                        <a:t>model interpretability</a:t>
                      </a:r>
                      <a:r>
                        <a:rPr lang="en-US" sz="1400" dirty="0"/>
                        <a:t> and </a:t>
                      </a:r>
                      <a:r>
                        <a:rPr lang="en-US" sz="1400" b="1" dirty="0"/>
                        <a:t>data limitations</a:t>
                      </a:r>
                      <a:r>
                        <a:rPr lang="en-US" sz="1400" dirty="0"/>
                        <a:t>.</a:t>
                      </a:r>
                      <a:endParaRPr lang="en-IN" sz="1400" dirty="0"/>
                    </a:p>
                  </a:txBody>
                  <a:tcPr/>
                </a:tc>
                <a:tc>
                  <a:txBody>
                    <a:bodyPr/>
                    <a:lstStyle/>
                    <a:p>
                      <a:r>
                        <a:rPr lang="en-US" sz="1400" b="1" dirty="0"/>
                        <a:t>Enhances image quality</a:t>
                      </a:r>
                      <a:r>
                        <a:rPr lang="en-US" sz="1400" dirty="0"/>
                        <a:t>, facilitates </a:t>
                      </a:r>
                      <a:r>
                        <a:rPr lang="en-US" sz="1400" b="1" dirty="0"/>
                        <a:t>expert-level diagnosis</a:t>
                      </a:r>
                      <a:r>
                        <a:rPr lang="en-US" sz="1400" dirty="0"/>
                        <a:t>, and supports </a:t>
                      </a:r>
                      <a:r>
                        <a:rPr lang="en-US" sz="1400" b="1" dirty="0"/>
                        <a:t>personalized treatment</a:t>
                      </a:r>
                      <a:r>
                        <a:rPr lang="en-US" sz="1400" dirty="0"/>
                        <a:t> and </a:t>
                      </a:r>
                      <a:r>
                        <a:rPr lang="en-US" sz="1400" b="1" dirty="0"/>
                        <a:t>surgical planning</a:t>
                      </a:r>
                      <a:r>
                        <a:rPr lang="en-US" sz="1400" dirty="0"/>
                        <a:t>.</a:t>
                      </a:r>
                      <a:endParaRPr lang="en-IN" sz="1400" dirty="0"/>
                    </a:p>
                  </a:txBody>
                  <a:tcPr/>
                </a:tc>
                <a:tc>
                  <a:txBody>
                    <a:bodyPr/>
                    <a:lstStyle/>
                    <a:p>
                      <a:r>
                        <a:rPr lang="en-US" sz="1400" dirty="0"/>
                        <a:t>Challenges with </a:t>
                      </a:r>
                      <a:r>
                        <a:rPr lang="en-US" sz="1400" b="1" dirty="0"/>
                        <a:t>AI model interpretability</a:t>
                      </a:r>
                      <a:r>
                        <a:rPr lang="en-US" sz="1400" dirty="0"/>
                        <a:t>, </a:t>
                      </a:r>
                      <a:r>
                        <a:rPr lang="en-US" sz="1400" b="1" dirty="0"/>
                        <a:t>generalizability</a:t>
                      </a:r>
                      <a:r>
                        <a:rPr lang="en-US" sz="1400" dirty="0"/>
                        <a:t>, and </a:t>
                      </a:r>
                      <a:r>
                        <a:rPr lang="en-US" sz="1400" b="1" dirty="0"/>
                        <a:t>data limitations</a:t>
                      </a:r>
                      <a:r>
                        <a:rPr lang="en-US" sz="1400" dirty="0"/>
                        <a:t>, hindering </a:t>
                      </a:r>
                      <a:r>
                        <a:rPr lang="en-US" sz="1400" b="1" dirty="0"/>
                        <a:t>clinical adoption</a:t>
                      </a:r>
                      <a:r>
                        <a:rPr lang="en-US" sz="1400" dirty="0"/>
                        <a:t>.</a:t>
                      </a:r>
                      <a:endParaRPr lang="en-IN" sz="1400" dirty="0"/>
                    </a:p>
                  </a:txBody>
                  <a:tcPr/>
                </a:tc>
                <a:extLst>
                  <a:ext uri="{0D108BD9-81ED-4DB2-BD59-A6C34878D82A}">
                    <a16:rowId xmlns:a16="http://schemas.microsoft.com/office/drawing/2014/main" val="4209556591"/>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12</a:t>
            </a:fld>
            <a:endParaRPr lang="en-US"/>
          </a:p>
        </p:txBody>
      </p:sp>
    </p:spTree>
    <p:extLst>
      <p:ext uri="{BB962C8B-B14F-4D97-AF65-F5344CB8AC3E}">
        <p14:creationId xmlns:p14="http://schemas.microsoft.com/office/powerpoint/2010/main" val="180467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SURVEY(9/10)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902168000"/>
              </p:ext>
            </p:extLst>
          </p:nvPr>
        </p:nvGraphicFramePr>
        <p:xfrm>
          <a:off x="381000" y="1371600"/>
          <a:ext cx="8458200" cy="5001265"/>
        </p:xfrm>
        <a:graphic>
          <a:graphicData uri="http://schemas.openxmlformats.org/drawingml/2006/table">
            <a:tbl>
              <a:tblPr firstRow="1" bandRow="1">
                <a:tableStyleId>{5C22544A-7EE6-4342-B048-85BDC9FD1C3A}</a:tableStyleId>
              </a:tblPr>
              <a:tblGrid>
                <a:gridCol w="615142">
                  <a:extLst>
                    <a:ext uri="{9D8B030D-6E8A-4147-A177-3AD203B41FA5}">
                      <a16:colId xmlns:a16="http://schemas.microsoft.com/office/drawing/2014/main" val="2692491033"/>
                    </a:ext>
                  </a:extLst>
                </a:gridCol>
                <a:gridCol w="1076498">
                  <a:extLst>
                    <a:ext uri="{9D8B030D-6E8A-4147-A177-3AD203B41FA5}">
                      <a16:colId xmlns:a16="http://schemas.microsoft.com/office/drawing/2014/main" val="3867594356"/>
                    </a:ext>
                  </a:extLst>
                </a:gridCol>
                <a:gridCol w="1356360">
                  <a:extLst>
                    <a:ext uri="{9D8B030D-6E8A-4147-A177-3AD203B41FA5}">
                      <a16:colId xmlns:a16="http://schemas.microsoft.com/office/drawing/2014/main" val="1234894315"/>
                    </a:ext>
                  </a:extLst>
                </a:gridCol>
                <a:gridCol w="609600">
                  <a:extLst>
                    <a:ext uri="{9D8B030D-6E8A-4147-A177-3AD203B41FA5}">
                      <a16:colId xmlns:a16="http://schemas.microsoft.com/office/drawing/2014/main" val="2637689437"/>
                    </a:ext>
                  </a:extLst>
                </a:gridCol>
                <a:gridCol w="1676400">
                  <a:extLst>
                    <a:ext uri="{9D8B030D-6E8A-4147-A177-3AD203B41FA5}">
                      <a16:colId xmlns:a16="http://schemas.microsoft.com/office/drawing/2014/main" val="108083896"/>
                    </a:ext>
                  </a:extLst>
                </a:gridCol>
                <a:gridCol w="1295400">
                  <a:extLst>
                    <a:ext uri="{9D8B030D-6E8A-4147-A177-3AD203B41FA5}">
                      <a16:colId xmlns:a16="http://schemas.microsoft.com/office/drawing/2014/main" val="3506867505"/>
                    </a:ext>
                  </a:extLst>
                </a:gridCol>
                <a:gridCol w="990600">
                  <a:extLst>
                    <a:ext uri="{9D8B030D-6E8A-4147-A177-3AD203B41FA5}">
                      <a16:colId xmlns:a16="http://schemas.microsoft.com/office/drawing/2014/main" val="956321432"/>
                    </a:ext>
                  </a:extLst>
                </a:gridCol>
                <a:gridCol w="838200">
                  <a:extLst>
                    <a:ext uri="{9D8B030D-6E8A-4147-A177-3AD203B41FA5}">
                      <a16:colId xmlns:a16="http://schemas.microsoft.com/office/drawing/2014/main" val="3515238274"/>
                    </a:ext>
                  </a:extLst>
                </a:gridCol>
              </a:tblGrid>
              <a:tr h="562605">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3337977476"/>
                  </a:ext>
                </a:extLst>
              </a:tr>
              <a:tr h="4422145">
                <a:tc>
                  <a:txBody>
                    <a:bodyPr/>
                    <a:lstStyle/>
                    <a:p>
                      <a:r>
                        <a:rPr lang="en-IN" sz="1600" dirty="0"/>
                        <a:t>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Wei Yi1  · </a:t>
                      </a:r>
                      <a:r>
                        <a:rPr lang="en-AU" sz="1400" dirty="0" err="1">
                          <a:effectLst/>
                          <a:latin typeface="Arial" panose="020B0604020202020204" pitchFamily="34" charset="0"/>
                          <a:ea typeface="Calibri" panose="020F0502020204030204" pitchFamily="34" charset="0"/>
                          <a:cs typeface="Arial" panose="020B0604020202020204" pitchFamily="34" charset="0"/>
                        </a:rPr>
                        <a:t>Jingwei</a:t>
                      </a:r>
                      <a:r>
                        <a:rPr lang="en-AU" sz="1400" dirty="0">
                          <a:effectLst/>
                          <a:latin typeface="Arial" panose="020B0604020202020204" pitchFamily="34" charset="0"/>
                          <a:ea typeface="Calibri" panose="020F0502020204030204" pitchFamily="34" charset="0"/>
                          <a:cs typeface="Arial" panose="020B0604020202020204" pitchFamily="34" charset="0"/>
                        </a:rPr>
                        <a:t> Zhao2  · Wen Tang3  · </a:t>
                      </a:r>
                      <a:r>
                        <a:rPr lang="en-AU" sz="1400" dirty="0" err="1">
                          <a:effectLst/>
                          <a:latin typeface="Arial" panose="020B0604020202020204" pitchFamily="34" charset="0"/>
                          <a:ea typeface="Calibri" panose="020F0502020204030204" pitchFamily="34" charset="0"/>
                          <a:cs typeface="Arial" panose="020B0604020202020204" pitchFamily="34" charset="0"/>
                        </a:rPr>
                        <a:t>Hongkun</a:t>
                      </a:r>
                      <a:r>
                        <a:rPr lang="en-AU" sz="1400" dirty="0">
                          <a:effectLst/>
                          <a:latin typeface="Arial" panose="020B0604020202020204" pitchFamily="34" charset="0"/>
                          <a:ea typeface="Calibri" panose="020F0502020204030204" pitchFamily="34" charset="0"/>
                          <a:cs typeface="Arial" panose="020B0604020202020204" pitchFamily="34" charset="0"/>
                        </a:rPr>
                        <a:t> Yin3  · </a:t>
                      </a:r>
                      <a:r>
                        <a:rPr lang="en-AU" sz="1400" dirty="0" err="1">
                          <a:effectLst/>
                          <a:latin typeface="Arial" panose="020B0604020202020204" pitchFamily="34" charset="0"/>
                          <a:ea typeface="Calibri" panose="020F0502020204030204" pitchFamily="34" charset="0"/>
                          <a:cs typeface="Arial" panose="020B0604020202020204" pitchFamily="34" charset="0"/>
                        </a:rPr>
                        <a:t>Lifeng</a:t>
                      </a:r>
                      <a:r>
                        <a:rPr lang="en-AU" sz="1400" dirty="0">
                          <a:effectLst/>
                          <a:latin typeface="Arial" panose="020B0604020202020204" pitchFamily="34" charset="0"/>
                          <a:ea typeface="Calibri" panose="020F0502020204030204" pitchFamily="34" charset="0"/>
                          <a:cs typeface="Arial" panose="020B0604020202020204" pitchFamily="34" charset="0"/>
                        </a:rPr>
                        <a:t> Yu4  · </a:t>
                      </a:r>
                      <a:r>
                        <a:rPr lang="en-AU" sz="1400" dirty="0" err="1">
                          <a:effectLst/>
                          <a:latin typeface="Arial" panose="020B0604020202020204" pitchFamily="34" charset="0"/>
                          <a:ea typeface="Calibri" panose="020F0502020204030204" pitchFamily="34" charset="0"/>
                          <a:cs typeface="Arial" panose="020B0604020202020204" pitchFamily="34" charset="0"/>
                        </a:rPr>
                        <a:t>Yaohui</a:t>
                      </a:r>
                      <a:r>
                        <a:rPr lang="en-AU" sz="1400" dirty="0">
                          <a:effectLst/>
                          <a:latin typeface="Arial" panose="020B0604020202020204" pitchFamily="34" charset="0"/>
                          <a:ea typeface="Calibri" panose="020F0502020204030204" pitchFamily="34" charset="0"/>
                          <a:cs typeface="Arial" panose="020B0604020202020204" pitchFamily="34" charset="0"/>
                        </a:rPr>
                        <a:t> Wang5  · Wei Tian</a:t>
                      </a:r>
                      <a:endParaRPr lang="en-IN" sz="1400" dirty="0">
                        <a:latin typeface="Arial" panose="020B0604020202020204" pitchFamily="34" charset="0"/>
                        <a:ea typeface="Calibri" panose="020F0502020204030204" pitchFamily="34" charset="0"/>
                        <a:cs typeface="Arial" panose="020B0604020202020204" pitchFamily="34" charset="0"/>
                      </a:endParaRPr>
                    </a:p>
                    <a:p>
                      <a:endParaRPr lang="en-IN"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Deep learning‑based high‑accuracy detection for lumbar and cervical degenerative disease on T2‑weighted MR images</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sz="1400" dirty="0"/>
                    </a:p>
                  </a:txBody>
                  <a:tcPr/>
                </a:tc>
                <a:tc>
                  <a:txBody>
                    <a:bodyPr/>
                    <a:lstStyle/>
                    <a:p>
                      <a:r>
                        <a:rPr lang="en-IN" sz="1400" dirty="0"/>
                        <a:t>2023</a:t>
                      </a:r>
                    </a:p>
                  </a:txBody>
                  <a:tcPr/>
                </a:tc>
                <a:tc>
                  <a:txBody>
                    <a:bodyPr/>
                    <a:lstStyle/>
                    <a:p>
                      <a:r>
                        <a:rPr lang="en-US" sz="1400" b="1" dirty="0"/>
                        <a:t>Retrospective study</a:t>
                      </a:r>
                      <a:r>
                        <a:rPr lang="en-US" sz="1400" dirty="0"/>
                        <a:t> using </a:t>
                      </a:r>
                      <a:r>
                        <a:rPr lang="en-US" sz="1400" b="1" dirty="0"/>
                        <a:t>T2-weighted MRI scans</a:t>
                      </a:r>
                      <a:r>
                        <a:rPr lang="en-US" sz="1400" dirty="0"/>
                        <a:t> from 804 patients to develop and validate a </a:t>
                      </a:r>
                      <a:r>
                        <a:rPr lang="en-US" sz="1400" b="1" dirty="0"/>
                        <a:t>deep learning model</a:t>
                      </a:r>
                      <a:r>
                        <a:rPr lang="en-US" sz="1400" dirty="0"/>
                        <a:t> (3D ResNet18 with transformer architecture) for detecting lumbar degenerative disease. The model's </a:t>
                      </a:r>
                      <a:r>
                        <a:rPr lang="en-US" sz="1400" b="1" dirty="0"/>
                        <a:t>generalized performance</a:t>
                      </a:r>
                      <a:r>
                        <a:rPr lang="en-US" sz="1400" dirty="0"/>
                        <a:t> was evaluated using </a:t>
                      </a:r>
                      <a:r>
                        <a:rPr lang="en-US" sz="1400" b="1" dirty="0"/>
                        <a:t>cervical MRI scans</a:t>
                      </a:r>
                      <a:r>
                        <a:rPr lang="en-US" sz="1400" dirty="0"/>
                        <a:t> (200 patients) from an independent hospital.</a:t>
                      </a:r>
                      <a:endParaRPr lang="en-IN" sz="1400" dirty="0"/>
                    </a:p>
                  </a:txBody>
                  <a:tcPr/>
                </a:tc>
                <a:tc>
                  <a:txBody>
                    <a:bodyPr/>
                    <a:lstStyle/>
                    <a:p>
                      <a:r>
                        <a:rPr lang="en-US" sz="1400" dirty="0"/>
                        <a:t>The </a:t>
                      </a:r>
                      <a:r>
                        <a:rPr lang="en-US" sz="1400" b="1" dirty="0"/>
                        <a:t>DL model</a:t>
                      </a:r>
                      <a:r>
                        <a:rPr lang="en-US" sz="1400" dirty="0"/>
                        <a:t> effectively detects lumbar and cervical degenerative diseases using T2-weighted MRI and demonstrates strong diagnostic performance in both internal and external datasets, validated through </a:t>
                      </a:r>
                      <a:r>
                        <a:rPr lang="en-US" sz="1400" b="1" dirty="0" err="1"/>
                        <a:t>fROC</a:t>
                      </a:r>
                      <a:r>
                        <a:rPr lang="en-US" sz="1400" dirty="0"/>
                        <a:t> and </a:t>
                      </a:r>
                      <a:r>
                        <a:rPr lang="en-US" sz="1400" b="1" dirty="0"/>
                        <a:t>precision-recall curves</a:t>
                      </a:r>
                      <a:r>
                        <a:rPr lang="en-US" sz="1400" dirty="0"/>
                        <a:t>.</a:t>
                      </a:r>
                      <a:endParaRPr lang="en-IN" sz="1400" dirty="0"/>
                    </a:p>
                  </a:txBody>
                  <a:tcPr/>
                </a:tc>
                <a:tc>
                  <a:txBody>
                    <a:bodyPr/>
                    <a:lstStyle/>
                    <a:p>
                      <a:r>
                        <a:rPr lang="en-IN" sz="1400" dirty="0"/>
                        <a:t>High accuracy,</a:t>
                      </a:r>
                    </a:p>
                    <a:p>
                      <a:r>
                        <a:rPr lang="en-IN" sz="1400" dirty="0"/>
                        <a:t>multiple datasets,</a:t>
                      </a:r>
                    </a:p>
                    <a:p>
                      <a:r>
                        <a:rPr lang="en-IN" sz="1400" b="1" dirty="0"/>
                        <a:t>Generalizability</a:t>
                      </a:r>
                      <a:r>
                        <a:rPr lang="en-IN" sz="1400" b="0" dirty="0"/>
                        <a:t>,</a:t>
                      </a:r>
                    </a:p>
                    <a:p>
                      <a:r>
                        <a:rPr lang="en-US" sz="1400" dirty="0"/>
                        <a:t>Provides reliable performance metrics such as </a:t>
                      </a:r>
                      <a:r>
                        <a:rPr lang="en-US" sz="1400" b="1" dirty="0"/>
                        <a:t>precision</a:t>
                      </a:r>
                      <a:r>
                        <a:rPr lang="en-US" sz="1400" dirty="0"/>
                        <a:t>, </a:t>
                      </a:r>
                      <a:r>
                        <a:rPr lang="en-US" sz="1400" b="1" dirty="0"/>
                        <a:t>recall</a:t>
                      </a:r>
                      <a:r>
                        <a:rPr lang="en-US" sz="1400" dirty="0"/>
                        <a:t>, and </a:t>
                      </a:r>
                      <a:r>
                        <a:rPr lang="en-US" sz="1400" b="1" dirty="0"/>
                        <a:t>F1-score</a:t>
                      </a:r>
                      <a:r>
                        <a:rPr lang="en-US" sz="1400" dirty="0"/>
                        <a:t>.</a:t>
                      </a:r>
                      <a:endParaRPr lang="en-IN" sz="1400" dirty="0"/>
                    </a:p>
                  </a:txBody>
                  <a:tcPr/>
                </a:tc>
                <a:tc>
                  <a:txBody>
                    <a:bodyPr/>
                    <a:lstStyle/>
                    <a:p>
                      <a:r>
                        <a:rPr lang="en-IN" sz="1400" dirty="0"/>
                        <a:t>T2-weighted MRI scans,</a:t>
                      </a:r>
                    </a:p>
                    <a:p>
                      <a:r>
                        <a:rPr lang="en-IN" sz="1400" dirty="0"/>
                        <a:t>Data dependency</a:t>
                      </a:r>
                    </a:p>
                  </a:txBody>
                  <a:tcPr/>
                </a:tc>
                <a:extLst>
                  <a:ext uri="{0D108BD9-81ED-4DB2-BD59-A6C34878D82A}">
                    <a16:rowId xmlns:a16="http://schemas.microsoft.com/office/drawing/2014/main" val="1164368129"/>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dirty="0"/>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13</a:t>
            </a:fld>
            <a:endParaRPr lang="en-US"/>
          </a:p>
        </p:txBody>
      </p:sp>
    </p:spTree>
    <p:extLst>
      <p:ext uri="{BB962C8B-B14F-4D97-AF65-F5344CB8AC3E}">
        <p14:creationId xmlns:p14="http://schemas.microsoft.com/office/powerpoint/2010/main" val="4032966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SURVEY(10/10)</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225753760"/>
              </p:ext>
            </p:extLst>
          </p:nvPr>
        </p:nvGraphicFramePr>
        <p:xfrm>
          <a:off x="457200" y="1447800"/>
          <a:ext cx="8229600" cy="48006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1615424934"/>
                    </a:ext>
                  </a:extLst>
                </a:gridCol>
                <a:gridCol w="990600">
                  <a:extLst>
                    <a:ext uri="{9D8B030D-6E8A-4147-A177-3AD203B41FA5}">
                      <a16:colId xmlns:a16="http://schemas.microsoft.com/office/drawing/2014/main" val="3179900969"/>
                    </a:ext>
                  </a:extLst>
                </a:gridCol>
                <a:gridCol w="914400">
                  <a:extLst>
                    <a:ext uri="{9D8B030D-6E8A-4147-A177-3AD203B41FA5}">
                      <a16:colId xmlns:a16="http://schemas.microsoft.com/office/drawing/2014/main" val="2976875464"/>
                    </a:ext>
                  </a:extLst>
                </a:gridCol>
                <a:gridCol w="609600">
                  <a:extLst>
                    <a:ext uri="{9D8B030D-6E8A-4147-A177-3AD203B41FA5}">
                      <a16:colId xmlns:a16="http://schemas.microsoft.com/office/drawing/2014/main" val="3216253669"/>
                    </a:ext>
                  </a:extLst>
                </a:gridCol>
                <a:gridCol w="1943100">
                  <a:extLst>
                    <a:ext uri="{9D8B030D-6E8A-4147-A177-3AD203B41FA5}">
                      <a16:colId xmlns:a16="http://schemas.microsoft.com/office/drawing/2014/main" val="2247048294"/>
                    </a:ext>
                  </a:extLst>
                </a:gridCol>
                <a:gridCol w="1028700">
                  <a:extLst>
                    <a:ext uri="{9D8B030D-6E8A-4147-A177-3AD203B41FA5}">
                      <a16:colId xmlns:a16="http://schemas.microsoft.com/office/drawing/2014/main" val="1238740491"/>
                    </a:ext>
                  </a:extLst>
                </a:gridCol>
                <a:gridCol w="1028700">
                  <a:extLst>
                    <a:ext uri="{9D8B030D-6E8A-4147-A177-3AD203B41FA5}">
                      <a16:colId xmlns:a16="http://schemas.microsoft.com/office/drawing/2014/main" val="4013428841"/>
                    </a:ext>
                  </a:extLst>
                </a:gridCol>
                <a:gridCol w="1028700">
                  <a:extLst>
                    <a:ext uri="{9D8B030D-6E8A-4147-A177-3AD203B41FA5}">
                      <a16:colId xmlns:a16="http://schemas.microsoft.com/office/drawing/2014/main" val="2915300635"/>
                    </a:ext>
                  </a:extLst>
                </a:gridCol>
              </a:tblGrid>
              <a:tr h="390463">
                <a:tc>
                  <a:txBody>
                    <a:bodyPr/>
                    <a:lstStyle/>
                    <a:p>
                      <a:r>
                        <a:rPr lang="en-IN" sz="1600" dirty="0"/>
                        <a:t>S.No</a:t>
                      </a:r>
                    </a:p>
                  </a:txBody>
                  <a:tcPr/>
                </a:tc>
                <a:tc>
                  <a:txBody>
                    <a:bodyPr/>
                    <a:lstStyle/>
                    <a:p>
                      <a:r>
                        <a:rPr lang="en-IN" sz="1600" dirty="0"/>
                        <a:t>Author(s)</a:t>
                      </a:r>
                    </a:p>
                  </a:txBody>
                  <a:tcPr/>
                </a:tc>
                <a:tc>
                  <a:txBody>
                    <a:bodyPr/>
                    <a:lstStyle/>
                    <a:p>
                      <a:r>
                        <a:rPr lang="en-IN" sz="1600" dirty="0"/>
                        <a:t>Title</a:t>
                      </a:r>
                    </a:p>
                  </a:txBody>
                  <a:tcPr/>
                </a:tc>
                <a:tc>
                  <a:txBody>
                    <a:bodyPr/>
                    <a:lstStyle/>
                    <a:p>
                      <a:r>
                        <a:rPr lang="en-IN" sz="1600" dirty="0"/>
                        <a:t>Year</a:t>
                      </a:r>
                    </a:p>
                  </a:txBody>
                  <a:tcPr/>
                </a:tc>
                <a:tc>
                  <a:txBody>
                    <a:bodyPr/>
                    <a:lstStyle/>
                    <a:p>
                      <a:r>
                        <a:rPr lang="en-IN" sz="1600" dirty="0"/>
                        <a:t>Methodology</a:t>
                      </a:r>
                    </a:p>
                  </a:txBody>
                  <a:tcPr/>
                </a:tc>
                <a:tc>
                  <a:txBody>
                    <a:bodyPr/>
                    <a:lstStyle/>
                    <a:p>
                      <a:r>
                        <a:rPr lang="en-IN" sz="1600" dirty="0"/>
                        <a:t>Inference</a:t>
                      </a:r>
                    </a:p>
                  </a:txBody>
                  <a:tcPr/>
                </a:tc>
                <a:tc>
                  <a:txBody>
                    <a:bodyPr/>
                    <a:lstStyle/>
                    <a:p>
                      <a:r>
                        <a:rPr lang="en-IN" sz="1600" dirty="0"/>
                        <a:t>Merits</a:t>
                      </a:r>
                    </a:p>
                  </a:txBody>
                  <a:tcPr/>
                </a:tc>
                <a:tc>
                  <a:txBody>
                    <a:bodyPr/>
                    <a:lstStyle/>
                    <a:p>
                      <a:r>
                        <a:rPr lang="en-IN" sz="1600" dirty="0"/>
                        <a:t>Demerits</a:t>
                      </a:r>
                    </a:p>
                  </a:txBody>
                  <a:tcPr/>
                </a:tc>
                <a:extLst>
                  <a:ext uri="{0D108BD9-81ED-4DB2-BD59-A6C34878D82A}">
                    <a16:rowId xmlns:a16="http://schemas.microsoft.com/office/drawing/2014/main" val="1523517193"/>
                  </a:ext>
                </a:extLst>
              </a:tr>
              <a:tr h="4410137">
                <a:tc>
                  <a:txBody>
                    <a:bodyPr/>
                    <a:lstStyle/>
                    <a:p>
                      <a:r>
                        <a:rPr lang="en-IN" sz="1600" dirty="0"/>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Margaret holler</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400" dirty="0">
                          <a:effectLst/>
                          <a:latin typeface="Arial" panose="020B0604020202020204" pitchFamily="34" charset="0"/>
                          <a:ea typeface="Calibri" panose="020F0502020204030204" pitchFamily="34" charset="0"/>
                          <a:cs typeface="Arial" panose="020B0604020202020204" pitchFamily="34" charset="0"/>
                        </a:rPr>
                        <a:t>Spinal cord </a:t>
                      </a:r>
                      <a:r>
                        <a:rPr lang="en-AU" sz="1400" dirty="0" err="1">
                          <a:effectLst/>
                          <a:latin typeface="Arial" panose="020B0604020202020204" pitchFamily="34" charset="0"/>
                          <a:ea typeface="Calibri" panose="020F0502020204030204" pitchFamily="34" charset="0"/>
                          <a:cs typeface="Arial" panose="020B0604020202020204" pitchFamily="34" charset="0"/>
                        </a:rPr>
                        <a:t>tumpors</a:t>
                      </a:r>
                      <a:endParaRPr lang="en-IN" sz="1400" dirty="0">
                        <a:effectLst/>
                        <a:latin typeface="Arial" panose="020B0604020202020204" pitchFamily="34" charset="0"/>
                        <a:ea typeface="Calibri" panose="020F0502020204030204" pitchFamily="34" charset="0"/>
                        <a:cs typeface="Arial" panose="020B0604020202020204" pitchFamily="34" charset="0"/>
                      </a:endParaRPr>
                    </a:p>
                    <a:p>
                      <a:endParaRPr lang="en-IN" dirty="0"/>
                    </a:p>
                  </a:txBody>
                  <a:tcPr/>
                </a:tc>
                <a:tc>
                  <a:txBody>
                    <a:bodyPr/>
                    <a:lstStyle/>
                    <a:p>
                      <a:r>
                        <a:rPr lang="en-IN" sz="1400" dirty="0"/>
                        <a:t>2022</a:t>
                      </a:r>
                    </a:p>
                  </a:txBody>
                  <a:tcPr/>
                </a:tc>
                <a:tc>
                  <a:txBody>
                    <a:bodyPr/>
                    <a:lstStyle/>
                    <a:p>
                      <a:r>
                        <a:rPr lang="en-US" sz="1400" b="1" dirty="0"/>
                        <a:t>Retrospective study</a:t>
                      </a:r>
                      <a:r>
                        <a:rPr lang="en-US" sz="1400" dirty="0"/>
                        <a:t> using </a:t>
                      </a:r>
                      <a:r>
                        <a:rPr lang="en-US" sz="1400" b="1" dirty="0"/>
                        <a:t>T2-weighted MRI scans</a:t>
                      </a:r>
                      <a:r>
                        <a:rPr lang="en-US" sz="1400" dirty="0"/>
                        <a:t> from 804 patients with lumbar degenerative disease to develop and validate a </a:t>
                      </a:r>
                      <a:r>
                        <a:rPr lang="en-US" sz="1400" b="1" dirty="0"/>
                        <a:t>deep learning model</a:t>
                      </a:r>
                      <a:r>
                        <a:rPr lang="en-US" sz="1400" dirty="0"/>
                        <a:t> (3D ResNet18 with transformer architecture).The model was trained with a </a:t>
                      </a:r>
                      <a:r>
                        <a:rPr lang="en-US" sz="1400" b="1" dirty="0"/>
                        <a:t>training dataset</a:t>
                      </a:r>
                      <a:r>
                        <a:rPr lang="en-US" sz="1400" dirty="0"/>
                        <a:t> (456 patients) and validated using </a:t>
                      </a:r>
                      <a:r>
                        <a:rPr lang="en-US" sz="1400" b="1" dirty="0"/>
                        <a:t>internal</a:t>
                      </a:r>
                      <a:r>
                        <a:rPr lang="en-US" sz="1400" dirty="0"/>
                        <a:t> (134 patients) and </a:t>
                      </a:r>
                      <a:r>
                        <a:rPr lang="en-US" sz="1400" b="1" dirty="0"/>
                        <a:t>external</a:t>
                      </a:r>
                      <a:r>
                        <a:rPr lang="en-US" sz="1400" dirty="0"/>
                        <a:t> datasets (100 and 114 patients).</a:t>
                      </a:r>
                      <a:r>
                        <a:rPr lang="en-US" sz="1400" b="1" dirty="0"/>
                        <a:t>Generalized performance</a:t>
                      </a:r>
                      <a:r>
                        <a:rPr lang="en-US" sz="1400" dirty="0"/>
                        <a:t> was tested with </a:t>
                      </a:r>
                      <a:r>
                        <a:rPr lang="en-US" sz="1400" b="1" dirty="0"/>
                        <a:t>cervical MR images</a:t>
                      </a:r>
                      <a:r>
                        <a:rPr lang="en-US" sz="1400" dirty="0"/>
                        <a:t> (200 patients).</a:t>
                      </a:r>
                      <a:endParaRPr lang="en-IN" sz="1400" dirty="0"/>
                    </a:p>
                  </a:txBody>
                  <a:tcPr/>
                </a:tc>
                <a:tc>
                  <a:txBody>
                    <a:bodyPr/>
                    <a:lstStyle/>
                    <a:p>
                      <a:r>
                        <a:rPr lang="en-US" sz="1400" dirty="0"/>
                        <a:t>The </a:t>
                      </a:r>
                      <a:r>
                        <a:rPr lang="en-US" sz="1400" b="1" dirty="0"/>
                        <a:t>DL model</a:t>
                      </a:r>
                      <a:r>
                        <a:rPr lang="en-US" sz="1400" dirty="0"/>
                        <a:t> effectively detects lumbar and cervical degenerative diseases, showing strong diagnostic performance, evaluated by </a:t>
                      </a:r>
                      <a:r>
                        <a:rPr lang="en-US" sz="1400" b="1" dirty="0" err="1"/>
                        <a:t>fROC</a:t>
                      </a:r>
                      <a:r>
                        <a:rPr lang="en-US" sz="1400" dirty="0"/>
                        <a:t> and </a:t>
                      </a:r>
                      <a:r>
                        <a:rPr lang="en-US" sz="1400" b="1" dirty="0"/>
                        <a:t>precision-recall curves</a:t>
                      </a:r>
                      <a:r>
                        <a:rPr lang="en-US" sz="1400" dirty="0"/>
                        <a:t>.</a:t>
                      </a:r>
                      <a:endParaRPr lang="en-IN" sz="1400" dirty="0"/>
                    </a:p>
                  </a:txBody>
                  <a:tcPr/>
                </a:tc>
                <a:tc>
                  <a:txBody>
                    <a:bodyPr/>
                    <a:lstStyle/>
                    <a:p>
                      <a:r>
                        <a:rPr lang="en-IN" sz="1400" dirty="0"/>
                        <a:t>High accuracy,</a:t>
                      </a:r>
                    </a:p>
                    <a:p>
                      <a:r>
                        <a:rPr lang="en-IN" sz="1400" b="1" dirty="0"/>
                        <a:t>multiple datasets</a:t>
                      </a:r>
                      <a:r>
                        <a:rPr lang="en-IN" sz="1400" dirty="0"/>
                        <a:t> ensuring better </a:t>
                      </a:r>
                      <a:r>
                        <a:rPr lang="en-IN" sz="1400" b="1" dirty="0"/>
                        <a:t>generalizability</a:t>
                      </a:r>
                      <a:r>
                        <a:rPr lang="en-IN" sz="1400" b="0" dirty="0"/>
                        <a:t>,</a:t>
                      </a:r>
                      <a:r>
                        <a:rPr lang="en-US" sz="1400" dirty="0"/>
                        <a:t> Provides comprehensive performance metrics (</a:t>
                      </a:r>
                      <a:r>
                        <a:rPr lang="en-US" sz="1400" b="1" dirty="0"/>
                        <a:t>precision</a:t>
                      </a:r>
                      <a:r>
                        <a:rPr lang="en-US" sz="1400" dirty="0"/>
                        <a:t>, </a:t>
                      </a:r>
                      <a:r>
                        <a:rPr lang="en-US" sz="1400" b="1" dirty="0"/>
                        <a:t>recall</a:t>
                      </a:r>
                      <a:r>
                        <a:rPr lang="en-US" sz="1400" dirty="0"/>
                        <a:t>, </a:t>
                      </a:r>
                      <a:r>
                        <a:rPr lang="en-US" sz="1400" b="1" dirty="0"/>
                        <a:t>F1-score</a:t>
                      </a:r>
                      <a:r>
                        <a:rPr lang="en-US" sz="1400" dirty="0"/>
                        <a:t>).</a:t>
                      </a:r>
                      <a:endParaRPr lang="en-IN" sz="1400" dirty="0"/>
                    </a:p>
                  </a:txBody>
                  <a:tcPr/>
                </a:tc>
                <a:tc>
                  <a:txBody>
                    <a:bodyPr/>
                    <a:lstStyle/>
                    <a:p>
                      <a:r>
                        <a:rPr lang="en-US" sz="1400" dirty="0"/>
                        <a:t>Dependent on </a:t>
                      </a:r>
                      <a:r>
                        <a:rPr lang="en-US" sz="1400" b="1" dirty="0"/>
                        <a:t>T2-weighted MRI scans,</a:t>
                      </a:r>
                    </a:p>
                    <a:p>
                      <a:r>
                        <a:rPr lang="en-IN" sz="1400" b="1" dirty="0"/>
                        <a:t>Data quality</a:t>
                      </a:r>
                      <a:r>
                        <a:rPr lang="en-IN" sz="1400" dirty="0"/>
                        <a:t> and </a:t>
                      </a:r>
                      <a:r>
                        <a:rPr lang="en-IN" sz="1400" b="1" dirty="0"/>
                        <a:t>diversity.</a:t>
                      </a:r>
                      <a:endParaRPr lang="en-IN" sz="1400" dirty="0"/>
                    </a:p>
                  </a:txBody>
                  <a:tcPr/>
                </a:tc>
                <a:extLst>
                  <a:ext uri="{0D108BD9-81ED-4DB2-BD59-A6C34878D82A}">
                    <a16:rowId xmlns:a16="http://schemas.microsoft.com/office/drawing/2014/main" val="2578490199"/>
                  </a:ext>
                </a:extLst>
              </a:tr>
            </a:tbl>
          </a:graphicData>
        </a:graphic>
      </p:graphicFrame>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14</a:t>
            </a:fld>
            <a:endParaRPr lang="en-US"/>
          </a:p>
        </p:txBody>
      </p:sp>
    </p:spTree>
    <p:extLst>
      <p:ext uri="{BB962C8B-B14F-4D97-AF65-F5344CB8AC3E}">
        <p14:creationId xmlns:p14="http://schemas.microsoft.com/office/powerpoint/2010/main" val="61683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cs typeface="Arial" panose="020B0604020202020204" pitchFamily="34" charset="0"/>
              </a:rPr>
              <a:t>INFERENCES FROM LITERATURE SURVEY</a:t>
            </a:r>
            <a:endParaRPr lang="en-IN" sz="3600" dirty="0"/>
          </a:p>
        </p:txBody>
      </p:sp>
      <p:sp>
        <p:nvSpPr>
          <p:cNvPr id="3" name="Content Placeholder 2"/>
          <p:cNvSpPr>
            <a:spLocks noGrp="1"/>
          </p:cNvSpPr>
          <p:nvPr>
            <p:ph idx="1"/>
          </p:nvPr>
        </p:nvSpPr>
        <p:spPr>
          <a:xfrm>
            <a:off x="457200" y="1371600"/>
            <a:ext cx="8229600" cy="4876800"/>
          </a:xfrm>
        </p:spPr>
        <p:txBody>
          <a:bodyPr>
            <a:noAutofit/>
          </a:bodyPr>
          <a:lstStyle/>
          <a:p>
            <a:r>
              <a:rPr lang="en-US" sz="1800" b="1" dirty="0"/>
              <a:t>Lack of Deployment Process</a:t>
            </a:r>
            <a:r>
              <a:rPr lang="en-US" sz="1800" dirty="0"/>
              <a:t>:</a:t>
            </a:r>
          </a:p>
          <a:p>
            <a:pPr lvl="1"/>
            <a:r>
              <a:rPr lang="en-US" sz="1600" dirty="0"/>
              <a:t>The existing system does not implement a comprehensive deployment process, which limits its practical application in clinical settings and hinders accessibility for healthcare professionals.</a:t>
            </a:r>
          </a:p>
          <a:p>
            <a:r>
              <a:rPr lang="en-US" sz="1800" b="1" dirty="0"/>
              <a:t>Simplicity of Methods</a:t>
            </a:r>
            <a:r>
              <a:rPr lang="en-US" sz="1800" dirty="0"/>
              <a:t>:</a:t>
            </a:r>
          </a:p>
          <a:p>
            <a:pPr lvl="1"/>
            <a:r>
              <a:rPr lang="en-US" sz="1600" dirty="0"/>
              <a:t>The current methods employed are relatively simple and do not utilize advanced techniques such as Convolutional Neural Networks (CNNs) or Artificial Neural Networks (ANNs), which could enhance diagnostic accuracy and efficiency.</a:t>
            </a:r>
          </a:p>
          <a:p>
            <a:r>
              <a:rPr lang="en-US" sz="1800" b="1" dirty="0"/>
              <a:t>Insufficient Image Preprocessing</a:t>
            </a:r>
            <a:r>
              <a:rPr lang="en-US" sz="1800" dirty="0"/>
              <a:t>:</a:t>
            </a:r>
          </a:p>
          <a:p>
            <a:pPr lvl="1"/>
            <a:r>
              <a:rPr lang="en-US" sz="1600" dirty="0"/>
              <a:t>The existing system fails to incorporate essential image preprocessing steps, such as normalization and augmentation, which are critical for improving the quality of input data and the overall performance of diagnostic models.</a:t>
            </a:r>
          </a:p>
          <a:p>
            <a:r>
              <a:rPr lang="en-US" sz="1800" b="1" dirty="0"/>
              <a:t>Limited Data Analysis</a:t>
            </a:r>
            <a:r>
              <a:rPr lang="en-US" sz="1800" dirty="0"/>
              <a:t>:</a:t>
            </a:r>
          </a:p>
          <a:p>
            <a:pPr lvl="1"/>
            <a:r>
              <a:rPr lang="en-US" sz="1600" dirty="0"/>
              <a:t>There is a lack of comprehensive data analysis processes, including the use of plots and graphs, which are necessary for visualizing results and understanding the performance of the diagnostic system. This limits the ability to derive meaningful insights from the data.</a:t>
            </a:r>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15</a:t>
            </a:fld>
            <a:endParaRPr lang="en-US"/>
          </a:p>
        </p:txBody>
      </p:sp>
    </p:spTree>
    <p:extLst>
      <p:ext uri="{BB962C8B-B14F-4D97-AF65-F5344CB8AC3E}">
        <p14:creationId xmlns:p14="http://schemas.microsoft.com/office/powerpoint/2010/main" val="3889924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E301-8EC5-B9BC-29EF-0E7FD638BA4F}"/>
              </a:ext>
            </a:extLst>
          </p:cNvPr>
          <p:cNvSpPr>
            <a:spLocks noGrp="1"/>
          </p:cNvSpPr>
          <p:nvPr>
            <p:ph type="title"/>
          </p:nvPr>
        </p:nvSpPr>
        <p:spPr/>
        <p:txBody>
          <a:bodyPr/>
          <a:lstStyle/>
          <a:p>
            <a:r>
              <a:rPr lang="en-IN" dirty="0"/>
              <a:t>PROPOSED SYSTEM</a:t>
            </a:r>
          </a:p>
        </p:txBody>
      </p:sp>
      <p:sp>
        <p:nvSpPr>
          <p:cNvPr id="3" name="Content Placeholder 2">
            <a:extLst>
              <a:ext uri="{FF2B5EF4-FFF2-40B4-BE49-F238E27FC236}">
                <a16:creationId xmlns:a16="http://schemas.microsoft.com/office/drawing/2014/main" id="{9AB7B045-2CA9-A8F1-4EB4-B0A9C3B15F7B}"/>
              </a:ext>
            </a:extLst>
          </p:cNvPr>
          <p:cNvSpPr>
            <a:spLocks noGrp="1"/>
          </p:cNvSpPr>
          <p:nvPr>
            <p:ph idx="1"/>
          </p:nvPr>
        </p:nvSpPr>
        <p:spPr/>
        <p:txBody>
          <a:bodyPr>
            <a:normAutofit/>
          </a:bodyPr>
          <a:lstStyle/>
          <a:p>
            <a:pPr marL="0" indent="0" algn="just">
              <a:lnSpc>
                <a:spcPct val="150000"/>
              </a:lnSpc>
              <a:buNone/>
            </a:pPr>
            <a:r>
              <a:rPr lang="en-US" sz="1600" dirty="0">
                <a:latin typeface="Arial" panose="020B0604020202020204" pitchFamily="34" charset="0"/>
                <a:cs typeface="Arial" panose="020B0604020202020204" pitchFamily="34" charset="0"/>
              </a:rPr>
              <a:t>The proposed system for the detection and classification of spinal lumbar stenosis stages utilizes advanced Convolutional Neural Network (CNN) techniques to enhance diagnostic accuracy and streamline patient care. Leveraging the power of deep learning, this innovative approach aims to categorize different stages of lumbar stenosis with a high degree of precision, providing healthcare professionals with valuable insights for tailored treatment plans. The CNN architecture employed in this system is designed to analyze medical imaging data, such as MRIs and CT scans, allowing for automated and efficient identification of lumbar stenosis severity. By harnessing the capabilities of neural networks, the proposed system contributes to a more nuanced understanding of spinal health, facilitating early intervention and personalized medical interventions. This technology represents a significant stride toward improving diagnostic capabilities in the field of orthopedics, ultimately enhancing patient outcomes and quality of care.</a:t>
            </a:r>
            <a:endParaRPr lang="en-IN" sz="1600" dirty="0">
              <a:latin typeface="Arial" panose="020B0604020202020204" pitchFamily="34" charset="0"/>
              <a:cs typeface="Arial" panose="020B0604020202020204" pitchFamily="34" charset="0"/>
            </a:endParaRPr>
          </a:p>
          <a:p>
            <a:pPr marL="0" indent="0">
              <a:buNone/>
            </a:pPr>
            <a:endParaRPr lang="en-IN" dirty="0"/>
          </a:p>
        </p:txBody>
      </p:sp>
      <p:sp>
        <p:nvSpPr>
          <p:cNvPr id="4" name="Date Placeholder 3">
            <a:extLst>
              <a:ext uri="{FF2B5EF4-FFF2-40B4-BE49-F238E27FC236}">
                <a16:creationId xmlns:a16="http://schemas.microsoft.com/office/drawing/2014/main" id="{0F1B13B4-AF56-221B-7088-09CF443C3C3B}"/>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8AF582F8-268D-0CAE-1FC0-F76D08DD8669}"/>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52872A3-1F5F-2E87-4977-591F45493F79}"/>
              </a:ext>
            </a:extLst>
          </p:cNvPr>
          <p:cNvSpPr>
            <a:spLocks noGrp="1"/>
          </p:cNvSpPr>
          <p:nvPr>
            <p:ph type="sldNum" sz="quarter" idx="12"/>
          </p:nvPr>
        </p:nvSpPr>
        <p:spPr/>
        <p:txBody>
          <a:bodyPr/>
          <a:lstStyle/>
          <a:p>
            <a:fld id="{7B28076C-CE04-4A00-BFAA-A90EA8355859}" type="slidenum">
              <a:rPr lang="en-US" smtClean="0"/>
              <a:pPr/>
              <a:t>16</a:t>
            </a:fld>
            <a:endParaRPr lang="en-US"/>
          </a:p>
        </p:txBody>
      </p:sp>
    </p:spTree>
    <p:extLst>
      <p:ext uri="{BB962C8B-B14F-4D97-AF65-F5344CB8AC3E}">
        <p14:creationId xmlns:p14="http://schemas.microsoft.com/office/powerpoint/2010/main" val="2911953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SYSTEM(1/5)</a:t>
            </a:r>
          </a:p>
        </p:txBody>
      </p:sp>
      <p:sp>
        <p:nvSpPr>
          <p:cNvPr id="3" name="Content Placeholder 2"/>
          <p:cNvSpPr>
            <a:spLocks noGrp="1"/>
          </p:cNvSpPr>
          <p:nvPr>
            <p:ph idx="1"/>
          </p:nvPr>
        </p:nvSpPr>
        <p:spPr/>
        <p:txBody>
          <a:bodyPr>
            <a:normAutofit fontScale="40000" lnSpcReduction="20000"/>
          </a:bodyPr>
          <a:lstStyle/>
          <a:p>
            <a:pPr marL="0" indent="0">
              <a:buNone/>
            </a:pPr>
            <a:r>
              <a:rPr lang="en-IN" sz="2400" dirty="0"/>
              <a:t> </a:t>
            </a:r>
            <a:r>
              <a:rPr lang="en-IN" sz="3800" b="1" dirty="0"/>
              <a:t>Advantages of Proposed System</a:t>
            </a:r>
            <a:endParaRPr lang="en-IN" sz="2400" b="1" dirty="0"/>
          </a:p>
          <a:p>
            <a:r>
              <a:rPr lang="en-US" sz="3800" b="1" dirty="0"/>
              <a:t>Superior Diagnostic Precision</a:t>
            </a:r>
            <a:r>
              <a:rPr lang="en-US" sz="3800" dirty="0"/>
              <a:t>:</a:t>
            </a:r>
          </a:p>
          <a:p>
            <a:pPr lvl="1"/>
            <a:r>
              <a:rPr lang="en-US" sz="3400" dirty="0"/>
              <a:t>The advanced Convolutional Neural Network (CNN) techniques employed in the system provide a high level of accuracy in detecting and classifying various stages of spinal lumbar stenosis, minimizing the risk of misdiagnosis.</a:t>
            </a:r>
          </a:p>
          <a:p>
            <a:r>
              <a:rPr lang="en-US" sz="3800" b="1" dirty="0"/>
              <a:t>Efficiency through Automation</a:t>
            </a:r>
            <a:r>
              <a:rPr lang="en-US" sz="3800" dirty="0"/>
              <a:t>:</a:t>
            </a:r>
          </a:p>
          <a:p>
            <a:pPr lvl="1"/>
            <a:r>
              <a:rPr lang="en-US" sz="3400" dirty="0"/>
              <a:t>By automating the analysis of medical imaging data, the system significantly reduces the time required for diagnosis, allowing healthcare professionals to focus on patient care rather than manual image interpretation.</a:t>
            </a:r>
          </a:p>
          <a:p>
            <a:r>
              <a:rPr lang="en-US" sz="3800" b="1" dirty="0"/>
              <a:t>Personalized Treatment Strategies</a:t>
            </a:r>
            <a:r>
              <a:rPr lang="en-US" sz="3800" dirty="0"/>
              <a:t>:</a:t>
            </a:r>
          </a:p>
          <a:p>
            <a:pPr lvl="1"/>
            <a:r>
              <a:rPr lang="en-US" sz="3400" dirty="0"/>
              <a:t>The system's ability to categorize stenosis severity enables healthcare providers to create tailored treatment plans that address the specific needs of each patient, improving the effectiveness of interventions.</a:t>
            </a:r>
          </a:p>
          <a:p>
            <a:r>
              <a:rPr lang="en-US" sz="3800" b="1" dirty="0"/>
              <a:t>Early Detection and Intervention</a:t>
            </a:r>
            <a:r>
              <a:rPr lang="en-US" sz="3800" dirty="0"/>
              <a:t>:</a:t>
            </a:r>
          </a:p>
          <a:p>
            <a:pPr lvl="1"/>
            <a:r>
              <a:rPr lang="en-US" sz="3400" dirty="0"/>
              <a:t>The precise classification of spinal conditions facilitates early detection, allowing for timely medical interventions that can prevent the progression of the disease and enhance patient outcomes.</a:t>
            </a:r>
          </a:p>
          <a:p>
            <a:r>
              <a:rPr lang="en-US" sz="3800" b="1" dirty="0"/>
              <a:t>Improved Patient Outcomes</a:t>
            </a:r>
            <a:r>
              <a:rPr lang="en-US" sz="3800" dirty="0"/>
              <a:t>:</a:t>
            </a:r>
          </a:p>
          <a:p>
            <a:pPr lvl="1"/>
            <a:r>
              <a:rPr lang="en-US" sz="3400" dirty="0"/>
              <a:t>By streamlining the diagnostic process and enabling personalized care, the proposed system ultimately leads to better health outcomes for patients, enhancing their quality of life and reducing the burden of spinal disorders.</a:t>
            </a:r>
          </a:p>
          <a:p>
            <a:pPr marL="0" indent="0">
              <a:buNone/>
            </a:pPr>
            <a:endParaRPr lang="en-IN" sz="2400" b="1"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17</a:t>
            </a:fld>
            <a:endParaRPr lang="en-US"/>
          </a:p>
        </p:txBody>
      </p:sp>
    </p:spTree>
    <p:extLst>
      <p:ext uri="{BB962C8B-B14F-4D97-AF65-F5344CB8AC3E}">
        <p14:creationId xmlns:p14="http://schemas.microsoft.com/office/powerpoint/2010/main" val="313392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0A78-98CE-B54D-BCC4-5322EA1EE111}"/>
              </a:ext>
            </a:extLst>
          </p:cNvPr>
          <p:cNvSpPr>
            <a:spLocks noGrp="1"/>
          </p:cNvSpPr>
          <p:nvPr>
            <p:ph type="title"/>
          </p:nvPr>
        </p:nvSpPr>
        <p:spPr/>
        <p:txBody>
          <a:bodyPr/>
          <a:lstStyle/>
          <a:p>
            <a:r>
              <a:rPr lang="en-IN" dirty="0"/>
              <a:t>PROPOSED SYSTEM(2/5)</a:t>
            </a:r>
          </a:p>
        </p:txBody>
      </p:sp>
      <p:sp>
        <p:nvSpPr>
          <p:cNvPr id="4" name="Date Placeholder 3">
            <a:extLst>
              <a:ext uri="{FF2B5EF4-FFF2-40B4-BE49-F238E27FC236}">
                <a16:creationId xmlns:a16="http://schemas.microsoft.com/office/drawing/2014/main" id="{451F1097-8E0F-64E6-F44D-ADE1F8F69F7C}"/>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F3C54281-25E4-5685-A7DE-8797A46E56C8}"/>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ED25D6AE-AE2B-60F1-B3A1-94DAC4F05EEE}"/>
              </a:ext>
            </a:extLst>
          </p:cNvPr>
          <p:cNvSpPr>
            <a:spLocks noGrp="1"/>
          </p:cNvSpPr>
          <p:nvPr>
            <p:ph type="sldNum" sz="quarter" idx="12"/>
          </p:nvPr>
        </p:nvSpPr>
        <p:spPr/>
        <p:txBody>
          <a:bodyPr/>
          <a:lstStyle/>
          <a:p>
            <a:fld id="{7B28076C-CE04-4A00-BFAA-A90EA8355859}" type="slidenum">
              <a:rPr lang="en-US" smtClean="0"/>
              <a:pPr/>
              <a:t>18</a:t>
            </a:fld>
            <a:endParaRPr lang="en-US"/>
          </a:p>
        </p:txBody>
      </p:sp>
      <p:sp>
        <p:nvSpPr>
          <p:cNvPr id="3" name="Rectangle 2"/>
          <p:cNvSpPr/>
          <p:nvPr/>
        </p:nvSpPr>
        <p:spPr>
          <a:xfrm>
            <a:off x="3486417" y="2026336"/>
            <a:ext cx="1334726" cy="11978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3124200" y="1398579"/>
            <a:ext cx="2420278" cy="369332"/>
          </a:xfrm>
          <a:prstGeom prst="rect">
            <a:avLst/>
          </a:prstGeom>
        </p:spPr>
        <p:txBody>
          <a:bodyPr wrap="none">
            <a:spAutoFit/>
          </a:bodyPr>
          <a:lstStyle/>
          <a:p>
            <a:pPr algn="ctr"/>
            <a:r>
              <a:rPr lang="en-US" b="1" dirty="0">
                <a:latin typeface="Arial" panose="020B0604020202020204" pitchFamily="34" charset="0"/>
                <a:cs typeface="Arial" panose="020B0604020202020204" pitchFamily="34" charset="0"/>
              </a:rPr>
              <a:t>System Architecture</a:t>
            </a:r>
          </a:p>
        </p:txBody>
      </p:sp>
      <p:sp>
        <p:nvSpPr>
          <p:cNvPr id="12" name="Oval 11"/>
          <p:cNvSpPr/>
          <p:nvPr/>
        </p:nvSpPr>
        <p:spPr>
          <a:xfrm flipH="1">
            <a:off x="3306479" y="2213648"/>
            <a:ext cx="359875" cy="41159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Content Placeholder 13"/>
          <p:cNvPicPr>
            <a:picLocks noGrp="1"/>
          </p:cNvPicPr>
          <p:nvPr>
            <p:ph idx="1"/>
          </p:nvPr>
        </p:nvPicPr>
        <p:blipFill>
          <a:blip r:embed="rId2"/>
          <a:stretch>
            <a:fillRect/>
          </a:stretch>
        </p:blipFill>
        <p:spPr>
          <a:xfrm>
            <a:off x="1224110" y="1795463"/>
            <a:ext cx="6776890" cy="4330700"/>
          </a:xfrm>
          <a:prstGeom prst="rect">
            <a:avLst/>
          </a:prstGeom>
        </p:spPr>
      </p:pic>
    </p:spTree>
    <p:extLst>
      <p:ext uri="{BB962C8B-B14F-4D97-AF65-F5344CB8AC3E}">
        <p14:creationId xmlns:p14="http://schemas.microsoft.com/office/powerpoint/2010/main" val="3707196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SYSTEM(3/5)</a:t>
            </a:r>
          </a:p>
        </p:txBody>
      </p:sp>
      <p:sp>
        <p:nvSpPr>
          <p:cNvPr id="3" name="Content Placeholder 2"/>
          <p:cNvSpPr>
            <a:spLocks noGrp="1"/>
          </p:cNvSpPr>
          <p:nvPr>
            <p:ph idx="1"/>
          </p:nvPr>
        </p:nvSpPr>
        <p:spPr/>
        <p:txBody>
          <a:bodyPr>
            <a:normAutofit/>
          </a:bodyPr>
          <a:lstStyle/>
          <a:p>
            <a:pPr marL="0" indent="0">
              <a:buNone/>
            </a:pPr>
            <a:r>
              <a:rPr lang="en-IN" sz="2400" b="1" dirty="0">
                <a:latin typeface="Arial" panose="020B0604020202020204" pitchFamily="34" charset="0"/>
                <a:cs typeface="Arial" panose="020B0604020202020204" pitchFamily="34" charset="0"/>
                <a:sym typeface="+mn-ea"/>
              </a:rPr>
              <a:t>MODULES EMPLOYED </a:t>
            </a:r>
          </a:p>
          <a:p>
            <a:pPr lvl="0"/>
            <a:endParaRPr lang="en-IN" sz="2400" b="1" dirty="0">
              <a:latin typeface="Arial" panose="020B0604020202020204" pitchFamily="34" charset="0"/>
              <a:cs typeface="Arial" panose="020B0604020202020204" pitchFamily="34" charset="0"/>
              <a:sym typeface="+mn-ea"/>
            </a:endParaRPr>
          </a:p>
          <a:p>
            <a:pPr lvl="0"/>
            <a:r>
              <a:rPr lang="en-IN" sz="2400" dirty="0"/>
              <a:t>MANUAL NET</a:t>
            </a:r>
            <a:endParaRPr lang="en-US" sz="2400" dirty="0">
              <a:cs typeface="Calibri"/>
            </a:endParaRPr>
          </a:p>
          <a:p>
            <a:pPr lvl="0"/>
            <a:r>
              <a:rPr lang="en-IN" sz="2400" dirty="0"/>
              <a:t>GOOGLE NET  </a:t>
            </a:r>
            <a:endParaRPr lang="en-IN" sz="2400" dirty="0">
              <a:cs typeface="Calibri"/>
            </a:endParaRPr>
          </a:p>
          <a:p>
            <a:pPr lvl="0"/>
            <a:r>
              <a:rPr lang="en-IN" sz="2400" dirty="0"/>
              <a:t>LENET</a:t>
            </a:r>
            <a:endParaRPr lang="en-IN" sz="2400" dirty="0">
              <a:cs typeface="Calibri"/>
            </a:endParaRPr>
          </a:p>
          <a:p>
            <a:r>
              <a:rPr lang="en-US" sz="2400" dirty="0"/>
              <a:t>RESNET</a:t>
            </a:r>
          </a:p>
          <a:p>
            <a:endParaRPr lang="en-IN" sz="2400" dirty="0">
              <a:cs typeface="Calibri"/>
            </a:endParaRPr>
          </a:p>
          <a:p>
            <a:endParaRPr lang="en-IN" sz="2400" dirty="0"/>
          </a:p>
          <a:p>
            <a:pPr marL="0" indent="0">
              <a:buNone/>
            </a:pPr>
            <a:endParaRPr lang="en-IN" sz="2400" dirty="0"/>
          </a:p>
          <a:p>
            <a:pPr marL="0" indent="0">
              <a:buNone/>
            </a:pPr>
            <a:endParaRPr lang="en-IN" sz="2400"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19</a:t>
            </a:fld>
            <a:endParaRPr lang="en-US"/>
          </a:p>
        </p:txBody>
      </p:sp>
    </p:spTree>
    <p:extLst>
      <p:ext uri="{BB962C8B-B14F-4D97-AF65-F5344CB8AC3E}">
        <p14:creationId xmlns:p14="http://schemas.microsoft.com/office/powerpoint/2010/main" val="277180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3E85-38F4-F671-CE4E-FF3C4D5D6472}"/>
              </a:ext>
            </a:extLst>
          </p:cNvPr>
          <p:cNvSpPr>
            <a:spLocks noGrp="1"/>
          </p:cNvSpPr>
          <p:nvPr>
            <p:ph type="title"/>
          </p:nvPr>
        </p:nvSpPr>
        <p:spPr/>
        <p:txBody>
          <a:bodyPr/>
          <a:lstStyle/>
          <a:p>
            <a:r>
              <a:rPr lang="en-IN" dirty="0"/>
              <a:t>GOOGLE NET</a:t>
            </a:r>
          </a:p>
        </p:txBody>
      </p:sp>
      <p:sp>
        <p:nvSpPr>
          <p:cNvPr id="3" name="Content Placeholder 2">
            <a:extLst>
              <a:ext uri="{FF2B5EF4-FFF2-40B4-BE49-F238E27FC236}">
                <a16:creationId xmlns:a16="http://schemas.microsoft.com/office/drawing/2014/main" id="{3C4CB45C-6552-0776-0BC9-707C136D522A}"/>
              </a:ext>
            </a:extLst>
          </p:cNvPr>
          <p:cNvSpPr>
            <a:spLocks noGrp="1"/>
          </p:cNvSpPr>
          <p:nvPr>
            <p:ph idx="1"/>
          </p:nvPr>
        </p:nvSpPr>
        <p:spPr>
          <a:xfrm>
            <a:off x="381000" y="1235075"/>
            <a:ext cx="8229600" cy="5257800"/>
          </a:xfrm>
        </p:spPr>
        <p:txBody>
          <a:bodyPr vert="horz" lIns="91440" tIns="45720" rIns="91440" bIns="45720" rtlCol="0" anchor="t">
            <a:normAutofit fontScale="25000" lnSpcReduction="20000"/>
          </a:bodyPr>
          <a:lstStyle/>
          <a:p>
            <a:pPr algn="just">
              <a:lnSpc>
                <a:spcPct val="170000"/>
              </a:lnSpc>
            </a:pPr>
            <a:r>
              <a:rPr lang="en-AU" sz="4800" dirty="0">
                <a:latin typeface="Arial"/>
                <a:cs typeface="Arial"/>
              </a:rPr>
              <a:t>"</a:t>
            </a:r>
            <a:r>
              <a:rPr lang="en-AU" sz="4800" dirty="0" err="1">
                <a:latin typeface="Arial"/>
                <a:cs typeface="Arial"/>
              </a:rPr>
              <a:t>GoogleNet</a:t>
            </a:r>
            <a:r>
              <a:rPr lang="en-AU" sz="4800" dirty="0">
                <a:latin typeface="Arial"/>
                <a:cs typeface="Arial"/>
              </a:rPr>
              <a:t>," also known as "Inception-v1," is a deep learning architecture for image classification. It was developed by a team of researchers at Google, led by Christian Szegedy, and was the winner of the ImageNet Large Scale Visual Recognition Challenge (ILSVRC) in 2014.</a:t>
            </a:r>
            <a:endParaRPr lang="en-IN" sz="4800" dirty="0">
              <a:latin typeface="Arial"/>
              <a:cs typeface="Arial"/>
            </a:endParaRPr>
          </a:p>
          <a:p>
            <a:pPr algn="just">
              <a:lnSpc>
                <a:spcPct val="170000"/>
              </a:lnSpc>
            </a:pPr>
            <a:r>
              <a:rPr lang="en-AU" sz="4800" dirty="0">
                <a:latin typeface="Arial"/>
                <a:cs typeface="Arial"/>
              </a:rPr>
              <a:t>The main innovation in the </a:t>
            </a:r>
            <a:r>
              <a:rPr lang="en-AU" sz="4800" dirty="0" err="1">
                <a:latin typeface="Arial"/>
                <a:cs typeface="Arial"/>
              </a:rPr>
              <a:t>GoogleNet</a:t>
            </a:r>
            <a:r>
              <a:rPr lang="en-AU" sz="4800" dirty="0">
                <a:latin typeface="Arial"/>
                <a:cs typeface="Arial"/>
              </a:rPr>
              <a:t> architecture is the use of the "Inception module," which incorporates multiple parallel convolutional operations of different filter sizes to capture features at various scales. This allows the network to learn both fine-grained and high-level abstract features efficiently.</a:t>
            </a:r>
            <a:endParaRPr lang="en-IN" sz="4800" dirty="0">
              <a:latin typeface="Arial"/>
              <a:cs typeface="Arial"/>
            </a:endParaRPr>
          </a:p>
          <a:p>
            <a:pPr algn="just">
              <a:lnSpc>
                <a:spcPct val="170000"/>
              </a:lnSpc>
            </a:pPr>
            <a:r>
              <a:rPr lang="en-AU" sz="4800" dirty="0">
                <a:latin typeface="Arial" panose="020B0604020202020204" pitchFamily="34" charset="0"/>
                <a:cs typeface="Arial" panose="020B0604020202020204" pitchFamily="34" charset="0"/>
              </a:rPr>
              <a:t>Key features of the </a:t>
            </a:r>
            <a:r>
              <a:rPr lang="en-AU" sz="4800" dirty="0" err="1">
                <a:latin typeface="Arial" panose="020B0604020202020204" pitchFamily="34" charset="0"/>
                <a:cs typeface="Arial" panose="020B0604020202020204" pitchFamily="34" charset="0"/>
              </a:rPr>
              <a:t>GoogleNet</a:t>
            </a:r>
            <a:r>
              <a:rPr lang="en-AU" sz="4800" dirty="0">
                <a:latin typeface="Arial" panose="020B0604020202020204" pitchFamily="34" charset="0"/>
                <a:cs typeface="Arial" panose="020B0604020202020204" pitchFamily="34" charset="0"/>
              </a:rPr>
              <a:t> architecture:</a:t>
            </a:r>
            <a:endParaRPr lang="en-IN" sz="4800" dirty="0">
              <a:latin typeface="Arial" panose="020B0604020202020204" pitchFamily="34" charset="0"/>
              <a:cs typeface="Arial" panose="020B0604020202020204" pitchFamily="34" charset="0"/>
            </a:endParaRPr>
          </a:p>
          <a:p>
            <a:pPr algn="just">
              <a:lnSpc>
                <a:spcPct val="170000"/>
              </a:lnSpc>
            </a:pPr>
            <a:r>
              <a:rPr lang="en-AU" sz="4800" dirty="0">
                <a:latin typeface="Arial"/>
                <a:cs typeface="Arial"/>
              </a:rPr>
              <a:t>Inception Module: The Inception module consists of a combination of 1x1, 3x3, and 5x5 convolutional filters, along with max-pooling operations. The idea behind this module is to allow the network to learn features at different spatial scales and capture both local and global patterns effectively. Additionally, 1x1 convolutions are used to reduce the dimensionality of the input channels, which helps in reducing computational complexity.</a:t>
            </a:r>
            <a:endParaRPr lang="en-IN" sz="4800" dirty="0">
              <a:latin typeface="Arial"/>
              <a:cs typeface="Arial"/>
            </a:endParaRPr>
          </a:p>
          <a:p>
            <a:pPr algn="just">
              <a:lnSpc>
                <a:spcPct val="170000"/>
              </a:lnSpc>
            </a:pPr>
            <a:r>
              <a:rPr lang="en-AU" sz="4800" dirty="0">
                <a:latin typeface="Arial"/>
                <a:cs typeface="Arial"/>
              </a:rPr>
              <a:t>Multiple Stacked Inception Modules: </a:t>
            </a:r>
            <a:r>
              <a:rPr lang="en-AU" sz="4800" dirty="0" err="1">
                <a:latin typeface="Arial"/>
                <a:cs typeface="Arial"/>
              </a:rPr>
              <a:t>GoogleNet</a:t>
            </a:r>
            <a:r>
              <a:rPr lang="en-AU" sz="4800" dirty="0">
                <a:latin typeface="Arial"/>
                <a:cs typeface="Arial"/>
              </a:rPr>
              <a:t> consists of multiple stacked Inception modules to create a deep network. These modules are designed to capture increasingly complex patterns as the network goes deeper. The inclusion of multiple Inception modules also allows the network to be computationally efficient, as it can utilize different filter sizes simultaneously.</a:t>
            </a:r>
            <a:endParaRPr lang="en-IN" sz="4800" dirty="0">
              <a:latin typeface="Arial"/>
              <a:cs typeface="Arial"/>
            </a:endParaRPr>
          </a:p>
          <a:p>
            <a:pPr algn="just">
              <a:lnSpc>
                <a:spcPct val="170000"/>
              </a:lnSpc>
            </a:pPr>
            <a:r>
              <a:rPr lang="en-AU" sz="4800" dirty="0">
                <a:latin typeface="Arial"/>
                <a:cs typeface="Arial"/>
              </a:rPr>
              <a:t>Auxiliary Classifiers: </a:t>
            </a:r>
            <a:r>
              <a:rPr lang="en-AU" sz="4800" dirty="0" err="1">
                <a:latin typeface="Arial"/>
                <a:cs typeface="Arial"/>
              </a:rPr>
              <a:t>GoogleNet</a:t>
            </a:r>
            <a:r>
              <a:rPr lang="en-AU" sz="4800" dirty="0">
                <a:latin typeface="Arial"/>
                <a:cs typeface="Arial"/>
              </a:rPr>
              <a:t> includes auxiliary classifiers at intermediate layers of the network. These auxiliary classifiers serve as "side branches" and are used to combat the vanishing gradient problem during training. They add extra supervision to the network and help in better gradient flow during backpropagation</a:t>
            </a:r>
          </a:p>
          <a:p>
            <a:pPr marL="0" indent="0">
              <a:buNone/>
            </a:pPr>
            <a:endParaRPr lang="en-IN" dirty="0">
              <a:cs typeface="Calibri"/>
            </a:endParaRPr>
          </a:p>
        </p:txBody>
      </p:sp>
      <p:sp>
        <p:nvSpPr>
          <p:cNvPr id="4" name="Date Placeholder 3">
            <a:extLst>
              <a:ext uri="{FF2B5EF4-FFF2-40B4-BE49-F238E27FC236}">
                <a16:creationId xmlns:a16="http://schemas.microsoft.com/office/drawing/2014/main" id="{9F16251F-9BF2-B308-1218-23E06EC9F33E}"/>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3C763B21-B51C-4708-444B-DFB236BDA9E5}"/>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ABFAAB6D-3505-0EDC-7A74-5E54EFBD6BFA}"/>
              </a:ext>
            </a:extLst>
          </p:cNvPr>
          <p:cNvSpPr>
            <a:spLocks noGrp="1"/>
          </p:cNvSpPr>
          <p:nvPr>
            <p:ph type="sldNum" sz="quarter" idx="12"/>
          </p:nvPr>
        </p:nvSpPr>
        <p:spPr/>
        <p:txBody>
          <a:bodyPr/>
          <a:lstStyle/>
          <a:p>
            <a:fld id="{7B28076C-CE04-4A00-BFAA-A90EA8355859}" type="slidenum">
              <a:rPr lang="en-US" smtClean="0"/>
              <a:pPr/>
              <a:t>20</a:t>
            </a:fld>
            <a:endParaRPr lang="en-US"/>
          </a:p>
        </p:txBody>
      </p:sp>
    </p:spTree>
    <p:extLst>
      <p:ext uri="{BB962C8B-B14F-4D97-AF65-F5344CB8AC3E}">
        <p14:creationId xmlns:p14="http://schemas.microsoft.com/office/powerpoint/2010/main" val="3817474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0D72872-F238-F9AC-E46E-D7A0F63DEACD}"/>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A77186CE-CB6C-DBDA-C362-0F7A09A654A0}"/>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59E39E01-654A-2468-08B0-664917B8B51D}"/>
              </a:ext>
            </a:extLst>
          </p:cNvPr>
          <p:cNvSpPr>
            <a:spLocks noGrp="1"/>
          </p:cNvSpPr>
          <p:nvPr>
            <p:ph type="sldNum" sz="quarter" idx="12"/>
          </p:nvPr>
        </p:nvSpPr>
        <p:spPr/>
        <p:txBody>
          <a:bodyPr/>
          <a:lstStyle/>
          <a:p>
            <a:fld id="{7B28076C-CE04-4A00-BFAA-A90EA8355859}" type="slidenum">
              <a:rPr lang="en-US" smtClean="0"/>
              <a:pPr/>
              <a:t>21</a:t>
            </a:fld>
            <a:endParaRPr lang="en-US"/>
          </a:p>
        </p:txBody>
      </p:sp>
      <p:pic>
        <p:nvPicPr>
          <p:cNvPr id="7" name="Content Placeholder 3" descr="C:\Users\SPIRO-PYTHON\Music\The-illustration-of-the-GoogleNet-architecture-Szegedy-et-al-2015-All-convolutional.png">
            <a:extLst>
              <a:ext uri="{FF2B5EF4-FFF2-40B4-BE49-F238E27FC236}">
                <a16:creationId xmlns:a16="http://schemas.microsoft.com/office/drawing/2014/main" id="{90B26AD5-9D5B-9F6A-4855-5F90B36805BD}"/>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3875" y="1977231"/>
            <a:ext cx="8096250" cy="3771900"/>
          </a:xfrm>
          <a:prstGeom prst="rect">
            <a:avLst/>
          </a:prstGeom>
          <a:noFill/>
          <a:ln>
            <a:noFill/>
          </a:ln>
        </p:spPr>
      </p:pic>
    </p:spTree>
    <p:extLst>
      <p:ext uri="{BB962C8B-B14F-4D97-AF65-F5344CB8AC3E}">
        <p14:creationId xmlns:p14="http://schemas.microsoft.com/office/powerpoint/2010/main" val="412120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40" y="228600"/>
            <a:ext cx="8229600" cy="533400"/>
          </a:xfrm>
        </p:spPr>
        <p:txBody>
          <a:bodyPr>
            <a:normAutofit fontScale="90000"/>
          </a:bodyPr>
          <a:lstStyle/>
          <a:p>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22</a:t>
            </a:fld>
            <a:endParaRPr lang="en-US"/>
          </a:p>
        </p:txBody>
      </p:sp>
      <p:pic>
        <p:nvPicPr>
          <p:cNvPr id="7" name="Content Placeholder 6"/>
          <p:cNvPicPr>
            <a:picLocks noGrp="1"/>
          </p:cNvPicPr>
          <p:nvPr>
            <p:ph idx="1"/>
          </p:nvPr>
        </p:nvPicPr>
        <p:blipFill>
          <a:blip r:embed="rId2"/>
          <a:stretch>
            <a:fillRect/>
          </a:stretch>
        </p:blipFill>
        <p:spPr>
          <a:xfrm>
            <a:off x="446314" y="228600"/>
            <a:ext cx="8229600" cy="2980515"/>
          </a:xfrm>
          <a:prstGeom prst="rect">
            <a:avLst/>
          </a:prstGeom>
        </p:spPr>
      </p:pic>
      <p:pic>
        <p:nvPicPr>
          <p:cNvPr id="8" name="Picture 7"/>
          <p:cNvPicPr/>
          <p:nvPr/>
        </p:nvPicPr>
        <p:blipFill>
          <a:blip r:embed="rId3"/>
          <a:stretch>
            <a:fillRect/>
          </a:stretch>
        </p:blipFill>
        <p:spPr>
          <a:xfrm>
            <a:off x="457200" y="3276600"/>
            <a:ext cx="8229600" cy="2895600"/>
          </a:xfrm>
          <a:prstGeom prst="rect">
            <a:avLst/>
          </a:prstGeom>
        </p:spPr>
      </p:pic>
    </p:spTree>
    <p:extLst>
      <p:ext uri="{BB962C8B-B14F-4D97-AF65-F5344CB8AC3E}">
        <p14:creationId xmlns:p14="http://schemas.microsoft.com/office/powerpoint/2010/main" val="1456850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6FC70-88BE-4043-808B-513FCD307102}"/>
              </a:ext>
            </a:extLst>
          </p:cNvPr>
          <p:cNvSpPr>
            <a:spLocks noGrp="1"/>
          </p:cNvSpPr>
          <p:nvPr>
            <p:ph type="title"/>
          </p:nvPr>
        </p:nvSpPr>
        <p:spPr/>
        <p:txBody>
          <a:bodyPr/>
          <a:lstStyle/>
          <a:p>
            <a:r>
              <a:rPr lang="en-IN" dirty="0"/>
              <a:t>LENET</a:t>
            </a:r>
          </a:p>
        </p:txBody>
      </p:sp>
      <p:sp>
        <p:nvSpPr>
          <p:cNvPr id="3" name="Content Placeholder 2">
            <a:extLst>
              <a:ext uri="{FF2B5EF4-FFF2-40B4-BE49-F238E27FC236}">
                <a16:creationId xmlns:a16="http://schemas.microsoft.com/office/drawing/2014/main" id="{20A8F8E8-2833-8471-3912-ED431A36FCDF}"/>
              </a:ext>
            </a:extLst>
          </p:cNvPr>
          <p:cNvSpPr>
            <a:spLocks noGrp="1"/>
          </p:cNvSpPr>
          <p:nvPr>
            <p:ph idx="1"/>
          </p:nvPr>
        </p:nvSpPr>
        <p:spPr>
          <a:xfrm>
            <a:off x="457200" y="1311910"/>
            <a:ext cx="8229600" cy="5029200"/>
          </a:xfrm>
        </p:spPr>
        <p:txBody>
          <a:bodyPr>
            <a:normAutofit fontScale="25000" lnSpcReduction="20000"/>
          </a:bodyPr>
          <a:lstStyle/>
          <a:p>
            <a:pPr algn="just">
              <a:lnSpc>
                <a:spcPct val="170000"/>
              </a:lnSpc>
            </a:pPr>
            <a:r>
              <a:rPr lang="en-AU" sz="4400" dirty="0">
                <a:latin typeface="Arial" panose="020B0604020202020204" pitchFamily="34" charset="0"/>
                <a:cs typeface="Arial" panose="020B0604020202020204" pitchFamily="34" charset="0"/>
              </a:rPr>
              <a:t>The </a:t>
            </a:r>
            <a:r>
              <a:rPr lang="en-AU" sz="4400" dirty="0" err="1">
                <a:latin typeface="Arial" panose="020B0604020202020204" pitchFamily="34" charset="0"/>
                <a:cs typeface="Arial" panose="020B0604020202020204" pitchFamily="34" charset="0"/>
              </a:rPr>
              <a:t>LeNet</a:t>
            </a:r>
            <a:r>
              <a:rPr lang="en-AU" sz="4400" dirty="0">
                <a:latin typeface="Arial" panose="020B0604020202020204" pitchFamily="34" charset="0"/>
                <a:cs typeface="Arial" panose="020B0604020202020204" pitchFamily="34" charset="0"/>
              </a:rPr>
              <a:t> architecture is a pioneering convolutional neural network (CNN) architecture developed by Yann LeCun and his colleagues in the early 1990s. It played a crucial role in the advancement of deep learning and was specifically designed for handwritten digit recognition tasks, such as recognizing digits in checks and postal addresses. </a:t>
            </a:r>
            <a:r>
              <a:rPr lang="en-AU" sz="4400" dirty="0" err="1">
                <a:latin typeface="Arial" panose="020B0604020202020204" pitchFamily="34" charset="0"/>
                <a:cs typeface="Arial" panose="020B0604020202020204" pitchFamily="34" charset="0"/>
              </a:rPr>
              <a:t>LeNet</a:t>
            </a:r>
            <a:r>
              <a:rPr lang="en-AU" sz="4400" dirty="0">
                <a:latin typeface="Arial" panose="020B0604020202020204" pitchFamily="34" charset="0"/>
                <a:cs typeface="Arial" panose="020B0604020202020204" pitchFamily="34" charset="0"/>
              </a:rPr>
              <a:t> laid the foundation for modern CNNs and their applications in image recognition and computer vision tasks.</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The </a:t>
            </a:r>
            <a:r>
              <a:rPr lang="en-AU" sz="4400" dirty="0" err="1">
                <a:latin typeface="Arial" panose="020B0604020202020204" pitchFamily="34" charset="0"/>
                <a:cs typeface="Arial" panose="020B0604020202020204" pitchFamily="34" charset="0"/>
              </a:rPr>
              <a:t>LeNet</a:t>
            </a:r>
            <a:r>
              <a:rPr lang="en-AU" sz="4400" dirty="0">
                <a:latin typeface="Arial" panose="020B0604020202020204" pitchFamily="34" charset="0"/>
                <a:cs typeface="Arial" panose="020B0604020202020204" pitchFamily="34" charset="0"/>
              </a:rPr>
              <a:t> architecture consists of the following layers:</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Input Layer: This layer accepts the input image, which is typically a grayscale image of a handwritten digit. The input images are usually of size 32x32 pixels.</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Convolutional Layers: </a:t>
            </a:r>
            <a:r>
              <a:rPr lang="en-AU" sz="4400" dirty="0" err="1">
                <a:latin typeface="Arial" panose="020B0604020202020204" pitchFamily="34" charset="0"/>
                <a:cs typeface="Arial" panose="020B0604020202020204" pitchFamily="34" charset="0"/>
              </a:rPr>
              <a:t>LeNet</a:t>
            </a:r>
            <a:r>
              <a:rPr lang="en-AU" sz="4400" dirty="0">
                <a:latin typeface="Arial" panose="020B0604020202020204" pitchFamily="34" charset="0"/>
                <a:cs typeface="Arial" panose="020B0604020202020204" pitchFamily="34" charset="0"/>
              </a:rPr>
              <a:t> uses two convolutional layers to extract features from the input images. Each convolutional layer applies convolutional filters (also called kernels) to the input image, capturing different patterns and features. These filters slide over the image to create feature maps.</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Subsampling (Pooling) Layers: After each convolutional layer, a subsampling layer (also known as a pooling layer) is applied to reduce the spatial dimensions of the feature maps and help in retaining important information while reducing computation.</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Fully Connected Layers: The subsampled feature maps are then flattened and passed through fully connected layers, which are traditional neural network layers. These layers are responsible for making classification decisions based on the extracted features.</a:t>
            </a:r>
            <a:endParaRPr lang="en-IN" sz="4400" dirty="0">
              <a:latin typeface="Arial" panose="020B0604020202020204" pitchFamily="34" charset="0"/>
              <a:cs typeface="Arial" panose="020B0604020202020204" pitchFamily="34" charset="0"/>
            </a:endParaRPr>
          </a:p>
          <a:p>
            <a:pPr algn="just">
              <a:lnSpc>
                <a:spcPct val="170000"/>
              </a:lnSpc>
            </a:pPr>
            <a:r>
              <a:rPr lang="en-AU" sz="4400" dirty="0">
                <a:latin typeface="Arial" panose="020B0604020202020204" pitchFamily="34" charset="0"/>
                <a:cs typeface="Arial" panose="020B0604020202020204" pitchFamily="34" charset="0"/>
              </a:rPr>
              <a:t>Output Layer: The final fully connected layer produces the output of the network, which represents the predicted class probabilities. For handwritten digit recognition, this would typically involve 10 output nodes, each corresponding to a digit class (0 to 9).</a:t>
            </a:r>
            <a:endParaRPr lang="en-IN" sz="4400" dirty="0">
              <a:latin typeface="Arial" panose="020B0604020202020204" pitchFamily="34" charset="0"/>
              <a:cs typeface="Arial" panose="020B0604020202020204" pitchFamily="34" charset="0"/>
            </a:endParaRPr>
          </a:p>
          <a:p>
            <a:endParaRPr lang="en-IN" dirty="0"/>
          </a:p>
        </p:txBody>
      </p:sp>
      <p:sp>
        <p:nvSpPr>
          <p:cNvPr id="4" name="Date Placeholder 3">
            <a:extLst>
              <a:ext uri="{FF2B5EF4-FFF2-40B4-BE49-F238E27FC236}">
                <a16:creationId xmlns:a16="http://schemas.microsoft.com/office/drawing/2014/main" id="{15A71082-F687-2637-FA7E-893A9CE16E29}"/>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7D1A348F-0A48-CCA6-93D1-3BC6A736DFA6}"/>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C3826D8C-E21C-C54D-C9AA-DAC55B9919F3}"/>
              </a:ext>
            </a:extLst>
          </p:cNvPr>
          <p:cNvSpPr>
            <a:spLocks noGrp="1"/>
          </p:cNvSpPr>
          <p:nvPr>
            <p:ph type="sldNum" sz="quarter" idx="12"/>
          </p:nvPr>
        </p:nvSpPr>
        <p:spPr/>
        <p:txBody>
          <a:bodyPr/>
          <a:lstStyle/>
          <a:p>
            <a:fld id="{7B28076C-CE04-4A00-BFAA-A90EA8355859}" type="slidenum">
              <a:rPr lang="en-US" smtClean="0"/>
              <a:pPr/>
              <a:t>23</a:t>
            </a:fld>
            <a:endParaRPr lang="en-US"/>
          </a:p>
        </p:txBody>
      </p:sp>
    </p:spTree>
    <p:extLst>
      <p:ext uri="{BB962C8B-B14F-4D97-AF65-F5344CB8AC3E}">
        <p14:creationId xmlns:p14="http://schemas.microsoft.com/office/powerpoint/2010/main" val="1112837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3 April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24</a:t>
            </a:fld>
            <a:endParaRPr lang="en-US"/>
          </a:p>
        </p:txBody>
      </p:sp>
      <p:pic>
        <p:nvPicPr>
          <p:cNvPr id="5" name="Picture 4"/>
          <p:cNvPicPr/>
          <p:nvPr/>
        </p:nvPicPr>
        <p:blipFill>
          <a:blip r:embed="rId2"/>
          <a:stretch>
            <a:fillRect/>
          </a:stretch>
        </p:blipFill>
        <p:spPr>
          <a:xfrm>
            <a:off x="842865" y="214604"/>
            <a:ext cx="7162800" cy="2992121"/>
          </a:xfrm>
          <a:prstGeom prst="rect">
            <a:avLst/>
          </a:prstGeom>
        </p:spPr>
      </p:pic>
      <p:pic>
        <p:nvPicPr>
          <p:cNvPr id="6" name="Picture 5"/>
          <p:cNvPicPr/>
          <p:nvPr/>
        </p:nvPicPr>
        <p:blipFill>
          <a:blip r:embed="rId3"/>
          <a:stretch>
            <a:fillRect/>
          </a:stretch>
        </p:blipFill>
        <p:spPr>
          <a:xfrm>
            <a:off x="1631302" y="3206725"/>
            <a:ext cx="6383694" cy="3485203"/>
          </a:xfrm>
          <a:prstGeom prst="rect">
            <a:avLst/>
          </a:prstGeom>
        </p:spPr>
      </p:pic>
    </p:spTree>
    <p:extLst>
      <p:ext uri="{BB962C8B-B14F-4D97-AF65-F5344CB8AC3E}">
        <p14:creationId xmlns:p14="http://schemas.microsoft.com/office/powerpoint/2010/main" val="4039883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RESNET</a:t>
            </a:r>
            <a:endParaRPr lang="en-IN" dirty="0"/>
          </a:p>
        </p:txBody>
      </p:sp>
      <p:sp>
        <p:nvSpPr>
          <p:cNvPr id="3" name="Content Placeholder 2"/>
          <p:cNvSpPr>
            <a:spLocks noGrp="1"/>
          </p:cNvSpPr>
          <p:nvPr>
            <p:ph idx="1"/>
          </p:nvPr>
        </p:nvSpPr>
        <p:spPr/>
        <p:txBody>
          <a:bodyPr>
            <a:normAutofit fontScale="47500" lnSpcReduction="20000"/>
          </a:bodyPr>
          <a:lstStyle/>
          <a:p>
            <a:r>
              <a:rPr lang="en-US" dirty="0" err="1">
                <a:latin typeface="+mj-lt"/>
              </a:rPr>
              <a:t>ResNet</a:t>
            </a:r>
            <a:r>
              <a:rPr lang="en-US" dirty="0">
                <a:latin typeface="+mj-lt"/>
              </a:rPr>
              <a:t> (Residual Network) is a deep learning architecture introduced by </a:t>
            </a:r>
            <a:r>
              <a:rPr lang="en-US" dirty="0" err="1">
                <a:latin typeface="+mj-lt"/>
              </a:rPr>
              <a:t>Kaiming</a:t>
            </a:r>
            <a:r>
              <a:rPr lang="en-US" dirty="0">
                <a:latin typeface="+mj-lt"/>
              </a:rPr>
              <a:t> He and colleagues in 2015 to address the challenges of training very deep neural networks, particularly the vanishing gradient problem. The key innovation in </a:t>
            </a:r>
            <a:r>
              <a:rPr lang="en-US" dirty="0" err="1">
                <a:latin typeface="+mj-lt"/>
              </a:rPr>
              <a:t>ResNet</a:t>
            </a:r>
            <a:r>
              <a:rPr lang="en-US" dirty="0">
                <a:latin typeface="+mj-lt"/>
              </a:rPr>
              <a:t> is the introduction of </a:t>
            </a:r>
            <a:r>
              <a:rPr lang="en-US" b="1" dirty="0">
                <a:latin typeface="+mj-lt"/>
              </a:rPr>
              <a:t>residual learning</a:t>
            </a:r>
            <a:r>
              <a:rPr lang="en-US" dirty="0">
                <a:latin typeface="+mj-lt"/>
              </a:rPr>
              <a:t> through </a:t>
            </a:r>
            <a:r>
              <a:rPr lang="en-US" b="1" dirty="0">
                <a:latin typeface="+mj-lt"/>
              </a:rPr>
              <a:t>shortcut connections</a:t>
            </a:r>
            <a:r>
              <a:rPr lang="en-US" dirty="0">
                <a:latin typeface="+mj-lt"/>
              </a:rPr>
              <a:t>, which allow the network to learn residual mappings instead of the full target function. By adding the input directly to the output of a block, gradients can flow more effectively through the network, making it easier to train even with hundreds of layers.</a:t>
            </a:r>
            <a:endParaRPr lang="en-IN" dirty="0">
              <a:latin typeface="+mj-lt"/>
            </a:endParaRPr>
          </a:p>
          <a:p>
            <a:r>
              <a:rPr lang="en-US" dirty="0">
                <a:latin typeface="+mj-lt"/>
              </a:rPr>
              <a:t>The core component of </a:t>
            </a:r>
            <a:r>
              <a:rPr lang="en-US" dirty="0" err="1">
                <a:latin typeface="+mj-lt"/>
              </a:rPr>
              <a:t>ResNet</a:t>
            </a:r>
            <a:r>
              <a:rPr lang="en-US" dirty="0">
                <a:latin typeface="+mj-lt"/>
              </a:rPr>
              <a:t> is the </a:t>
            </a:r>
            <a:r>
              <a:rPr lang="en-US" b="1" dirty="0">
                <a:latin typeface="+mj-lt"/>
              </a:rPr>
              <a:t>residual block</a:t>
            </a:r>
            <a:r>
              <a:rPr lang="en-US" dirty="0">
                <a:latin typeface="+mj-lt"/>
              </a:rPr>
              <a:t>, which consists of convolutional layers and a skip connection that bypasses one or more layers. For networks with matching input and output dimensions, the shortcut is a simple identity mapping; otherwise, it uses a 1×11 \times 11×1 convolution for dimensional alignment. </a:t>
            </a:r>
            <a:r>
              <a:rPr lang="en-US" dirty="0" err="1">
                <a:latin typeface="+mj-lt"/>
              </a:rPr>
              <a:t>ResNet's</a:t>
            </a:r>
            <a:r>
              <a:rPr lang="en-US" dirty="0">
                <a:latin typeface="+mj-lt"/>
              </a:rPr>
              <a:t> ability to train very deep networks without performance degradation led to the development of multiple variants, including ResNet-18, ResNet-34, ResNet-50, and ResNet-101, where the numbers represent the total layers. Deeper versions like ResNet-50 use a bottleneck design to improve computational efficiency.</a:t>
            </a:r>
            <a:endParaRPr lang="en-IN" dirty="0">
              <a:latin typeface="+mj-lt"/>
            </a:endParaRPr>
          </a:p>
          <a:p>
            <a:r>
              <a:rPr lang="en-US" dirty="0" err="1">
                <a:latin typeface="+mj-lt"/>
              </a:rPr>
              <a:t>ResNet</a:t>
            </a:r>
            <a:r>
              <a:rPr lang="en-US" dirty="0">
                <a:latin typeface="+mj-lt"/>
              </a:rPr>
              <a:t> has become a foundational architecture in computer vision, powering applications such as image classification, object detection, and semantic segmentation. Its pre-trained models are widely used for transfer learning in various domains. The architecture's success has inspired other innovations like </a:t>
            </a:r>
            <a:r>
              <a:rPr lang="en-US" dirty="0" err="1">
                <a:latin typeface="+mj-lt"/>
              </a:rPr>
              <a:t>DenseNet</a:t>
            </a:r>
            <a:r>
              <a:rPr lang="en-US" dirty="0">
                <a:latin typeface="+mj-lt"/>
              </a:rPr>
              <a:t> and </a:t>
            </a:r>
            <a:r>
              <a:rPr lang="en-US" dirty="0" err="1">
                <a:latin typeface="+mj-lt"/>
              </a:rPr>
              <a:t>EfficientNet</a:t>
            </a:r>
            <a:r>
              <a:rPr lang="en-US" dirty="0">
                <a:latin typeface="+mj-lt"/>
              </a:rPr>
              <a:t>, reinforcing </a:t>
            </a:r>
            <a:r>
              <a:rPr lang="en-US" dirty="0" err="1">
                <a:latin typeface="+mj-lt"/>
              </a:rPr>
              <a:t>ResNet's</a:t>
            </a:r>
            <a:r>
              <a:rPr lang="en-US" dirty="0">
                <a:latin typeface="+mj-lt"/>
              </a:rPr>
              <a:t> role as a landmark in deep learning research.</a:t>
            </a:r>
            <a:endParaRPr lang="en-IN" dirty="0">
              <a:latin typeface="+mj-lt"/>
            </a:endParaRPr>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25</a:t>
            </a:fld>
            <a:endParaRPr lang="en-US"/>
          </a:p>
        </p:txBody>
      </p:sp>
    </p:spTree>
    <p:extLst>
      <p:ext uri="{BB962C8B-B14F-4D97-AF65-F5344CB8AC3E}">
        <p14:creationId xmlns:p14="http://schemas.microsoft.com/office/powerpoint/2010/main" val="808441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3 April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26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676400"/>
            <a:ext cx="8067107" cy="4045200"/>
          </a:xfrm>
          <a:prstGeom prst="rect">
            <a:avLst/>
          </a:prstGeom>
        </p:spPr>
      </p:pic>
    </p:spTree>
    <p:extLst>
      <p:ext uri="{BB962C8B-B14F-4D97-AF65-F5344CB8AC3E}">
        <p14:creationId xmlns:p14="http://schemas.microsoft.com/office/powerpoint/2010/main" val="3322599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ACCURACY</a:t>
            </a:r>
            <a:endParaRPr lang="en-IN" dirty="0"/>
          </a:p>
        </p:txBody>
      </p:sp>
      <p:sp>
        <p:nvSpPr>
          <p:cNvPr id="5" name="Date Placeholder 4"/>
          <p:cNvSpPr>
            <a:spLocks noGrp="1"/>
          </p:cNvSpPr>
          <p:nvPr>
            <p:ph type="dt" sz="half" idx="10"/>
          </p:nvPr>
        </p:nvSpPr>
        <p:spPr/>
        <p:txBody>
          <a:bodyPr/>
          <a:lstStyle/>
          <a:p>
            <a:fld id="{9AB1E7AE-CF1A-4AE7-BD2C-F950D278A3DB}" type="datetime3">
              <a:rPr lang="en-US" smtClean="0"/>
              <a:t>3 April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27</a:t>
            </a:fld>
            <a:endParaRPr lang="en-US"/>
          </a:p>
        </p:txBody>
      </p:sp>
      <p:pic>
        <p:nvPicPr>
          <p:cNvPr id="8" name="Content Placeholder 7"/>
          <p:cNvPicPr>
            <a:picLocks noGrp="1"/>
          </p:cNvPicPr>
          <p:nvPr>
            <p:ph sz="half" idx="1"/>
          </p:nvPr>
        </p:nvPicPr>
        <p:blipFill>
          <a:blip r:embed="rId2"/>
          <a:stretch>
            <a:fillRect/>
          </a:stretch>
        </p:blipFill>
        <p:spPr>
          <a:xfrm>
            <a:off x="457200" y="2242756"/>
            <a:ext cx="4038600" cy="3240851"/>
          </a:xfrm>
          <a:prstGeom prst="rect">
            <a:avLst/>
          </a:prstGeom>
        </p:spPr>
      </p:pic>
      <p:pic>
        <p:nvPicPr>
          <p:cNvPr id="9" name="Content Placeholder 8"/>
          <p:cNvPicPr>
            <a:picLocks noGrp="1"/>
          </p:cNvPicPr>
          <p:nvPr>
            <p:ph sz="half" idx="2"/>
          </p:nvPr>
        </p:nvPicPr>
        <p:blipFill>
          <a:blip r:embed="rId3"/>
          <a:stretch>
            <a:fillRect/>
          </a:stretch>
        </p:blipFill>
        <p:spPr>
          <a:xfrm>
            <a:off x="4648200" y="2242756"/>
            <a:ext cx="4038600" cy="3240851"/>
          </a:xfrm>
          <a:prstGeom prst="rect">
            <a:avLst/>
          </a:prstGeom>
        </p:spPr>
      </p:pic>
    </p:spTree>
    <p:extLst>
      <p:ext uri="{BB962C8B-B14F-4D97-AF65-F5344CB8AC3E}">
        <p14:creationId xmlns:p14="http://schemas.microsoft.com/office/powerpoint/2010/main" val="2788835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40" y="228600"/>
            <a:ext cx="8229600" cy="990600"/>
          </a:xfrm>
        </p:spPr>
        <p:txBody>
          <a:bodyPr>
            <a:normAutofit fontScale="90000"/>
          </a:bodyPr>
          <a:lstStyle/>
          <a:p>
            <a:r>
              <a:rPr lang="en-US" dirty="0"/>
              <a:t>Hardware and Software Requirements, Datasets </a:t>
            </a:r>
            <a:endParaRPr lang="en-IN" dirty="0"/>
          </a:p>
        </p:txBody>
      </p:sp>
      <p:sp>
        <p:nvSpPr>
          <p:cNvPr id="3" name="Content Placeholder 2"/>
          <p:cNvSpPr>
            <a:spLocks noGrp="1"/>
          </p:cNvSpPr>
          <p:nvPr>
            <p:ph idx="1"/>
          </p:nvPr>
        </p:nvSpPr>
        <p:spPr/>
        <p:txBody>
          <a:bodyPr>
            <a:normAutofit fontScale="40000" lnSpcReduction="20000"/>
          </a:bodyPr>
          <a:lstStyle/>
          <a:p>
            <a:endParaRPr lang="en-IN" dirty="0"/>
          </a:p>
          <a:p>
            <a:pPr marL="0" indent="0">
              <a:buNone/>
            </a:pPr>
            <a:r>
              <a:rPr lang="en-US" b="1" i="1" dirty="0"/>
              <a:t>OPERATING SYSTEM: </a:t>
            </a:r>
            <a:r>
              <a:rPr lang="en-US" dirty="0"/>
              <a:t>Windows 10 or Higher: A stable and widely supported operating system to ensure compatibility with various software applications and hardware components. </a:t>
            </a:r>
          </a:p>
          <a:p>
            <a:endParaRPr lang="en-US" dirty="0"/>
          </a:p>
          <a:p>
            <a:pPr marL="0" indent="0">
              <a:buNone/>
            </a:pPr>
            <a:r>
              <a:rPr lang="en-IN" b="1" i="1" dirty="0"/>
              <a:t>HARDWARE SPECIFICATIONS </a:t>
            </a:r>
            <a:endParaRPr lang="en-IN" dirty="0"/>
          </a:p>
          <a:p>
            <a:pPr marL="0" indent="0" algn="just">
              <a:buNone/>
            </a:pPr>
            <a:r>
              <a:rPr lang="en-US" dirty="0"/>
              <a:t>  1. </a:t>
            </a:r>
            <a:r>
              <a:rPr lang="en-US" b="1" dirty="0"/>
              <a:t>Processor: </a:t>
            </a:r>
            <a:r>
              <a:rPr lang="en-US" dirty="0"/>
              <a:t>Intel Core i7 or equivalent, with multiple cores to handle parallel processing tasks efficiently. </a:t>
            </a:r>
          </a:p>
          <a:p>
            <a:pPr marL="0" indent="0" algn="just">
              <a:buNone/>
            </a:pPr>
            <a:r>
              <a:rPr lang="en-US" dirty="0"/>
              <a:t>  2. </a:t>
            </a:r>
            <a:r>
              <a:rPr lang="en-US" b="1" dirty="0"/>
              <a:t>Memory (RAM): </a:t>
            </a:r>
            <a:r>
              <a:rPr lang="en-US" dirty="0"/>
              <a:t>At least 16 GB to support the demands of deep learning model training and inference. </a:t>
            </a:r>
          </a:p>
          <a:p>
            <a:pPr marL="0" indent="0" algn="just">
              <a:buNone/>
            </a:pPr>
            <a:r>
              <a:rPr lang="en-US" dirty="0"/>
              <a:t>  3. </a:t>
            </a:r>
            <a:r>
              <a:rPr lang="en-US" b="1" dirty="0"/>
              <a:t>Storage (ROM): </a:t>
            </a:r>
            <a:r>
              <a:rPr lang="en-US" dirty="0"/>
              <a:t>A minimum of 1 TB SSD to accommodate large datasets and ensure fast data retrieval and system         responsiveness. </a:t>
            </a:r>
          </a:p>
          <a:p>
            <a:pPr marL="0" indent="0" algn="just">
              <a:buNone/>
            </a:pPr>
            <a:r>
              <a:rPr lang="en-US" dirty="0"/>
              <a:t>  4. </a:t>
            </a:r>
            <a:r>
              <a:rPr lang="en-US" b="1" dirty="0"/>
              <a:t>Graphics Processing Unit (GPU): </a:t>
            </a:r>
            <a:r>
              <a:rPr lang="en-US" dirty="0"/>
              <a:t>NVIDIA GeForce RTX series or equivalent with CUDA support to accelerate deep   learning computations. </a:t>
            </a:r>
          </a:p>
          <a:p>
            <a:pPr marL="0" indent="0">
              <a:buNone/>
            </a:pPr>
            <a:endParaRPr lang="en-IN" dirty="0"/>
          </a:p>
          <a:p>
            <a:pPr marL="0" indent="0">
              <a:buNone/>
            </a:pPr>
            <a:r>
              <a:rPr lang="en-IN" b="1" dirty="0"/>
              <a:t>S</a:t>
            </a:r>
            <a:r>
              <a:rPr lang="en-IN" b="1" i="1" dirty="0"/>
              <a:t>OFTWARE REQUIREMENTS </a:t>
            </a:r>
            <a:endParaRPr lang="en-IN" dirty="0"/>
          </a:p>
          <a:p>
            <a:pPr marL="0" indent="0">
              <a:buNone/>
            </a:pPr>
            <a:r>
              <a:rPr lang="en-US" dirty="0"/>
              <a:t>  1. </a:t>
            </a:r>
            <a:r>
              <a:rPr lang="en-US" b="1" dirty="0"/>
              <a:t>Programming Language</a:t>
            </a:r>
            <a:r>
              <a:rPr lang="en-US" dirty="0"/>
              <a:t>: Python 3.8 or higher, due to its extensive libraries and frameworks suitable for machine learning and deep learning applications and Anaconda Navigator. </a:t>
            </a:r>
          </a:p>
          <a:p>
            <a:pPr marL="0" indent="0">
              <a:buNone/>
            </a:pPr>
            <a:r>
              <a:rPr lang="en-US" dirty="0"/>
              <a:t>  2. </a:t>
            </a:r>
            <a:r>
              <a:rPr lang="en-US" b="1" dirty="0"/>
              <a:t>Development Environment: </a:t>
            </a:r>
            <a:r>
              <a:rPr lang="en-US" dirty="0"/>
              <a:t>Visual Studio Code (VS Code) or </a:t>
            </a:r>
            <a:r>
              <a:rPr lang="en-US" dirty="0" err="1"/>
              <a:t>PyCharm</a:t>
            </a:r>
            <a:r>
              <a:rPr lang="en-US" dirty="0"/>
              <a:t> for code development and debugging. </a:t>
            </a:r>
          </a:p>
          <a:p>
            <a:pPr marL="0" indent="0">
              <a:buNone/>
            </a:pPr>
            <a:r>
              <a:rPr lang="en-US" dirty="0"/>
              <a:t>  3. </a:t>
            </a:r>
            <a:r>
              <a:rPr lang="en-US" b="1" dirty="0"/>
              <a:t>Deep Learning Frameworks</a:t>
            </a:r>
            <a:r>
              <a:rPr lang="en-US" dirty="0"/>
              <a:t>: </a:t>
            </a:r>
            <a:r>
              <a:rPr lang="en-US" dirty="0" err="1"/>
              <a:t>TensorFlow</a:t>
            </a:r>
            <a:r>
              <a:rPr lang="en-US" dirty="0"/>
              <a:t> and </a:t>
            </a:r>
            <a:r>
              <a:rPr lang="en-US" dirty="0" err="1"/>
              <a:t>PyTorch</a:t>
            </a:r>
            <a:r>
              <a:rPr lang="en-US" dirty="0"/>
              <a:t> for building and deploying neural network models. </a:t>
            </a:r>
          </a:p>
          <a:p>
            <a:pPr marL="0" indent="0">
              <a:buNone/>
            </a:pPr>
            <a:r>
              <a:rPr lang="en-US" dirty="0"/>
              <a:t>  4. </a:t>
            </a:r>
            <a:r>
              <a:rPr lang="en-US" b="1" dirty="0"/>
              <a:t>Image Processing Libraries</a:t>
            </a:r>
            <a:r>
              <a:rPr lang="en-US" dirty="0"/>
              <a:t>: </a:t>
            </a:r>
            <a:r>
              <a:rPr lang="en-US" dirty="0" err="1"/>
              <a:t>OpenCV</a:t>
            </a:r>
            <a:r>
              <a:rPr lang="en-US" dirty="0"/>
              <a:t> and </a:t>
            </a:r>
            <a:r>
              <a:rPr lang="en-US" dirty="0" err="1"/>
              <a:t>scikit</a:t>
            </a:r>
            <a:r>
              <a:rPr lang="en-US" dirty="0"/>
              <a:t>-image for preprocessing and analyzing medical images. </a:t>
            </a:r>
          </a:p>
          <a:p>
            <a:endParaRPr lang="en-IN" dirty="0"/>
          </a:p>
          <a:p>
            <a:pPr marL="0" indent="0">
              <a:buNone/>
            </a:pPr>
            <a:r>
              <a:rPr lang="en-IN" b="1" dirty="0"/>
              <a:t>Additional Tools: </a:t>
            </a:r>
            <a:endParaRPr lang="en-IN" dirty="0"/>
          </a:p>
          <a:p>
            <a:pPr marL="0" indent="0">
              <a:buNone/>
            </a:pPr>
            <a:r>
              <a:rPr lang="en-US" b="1" dirty="0"/>
              <a:t>Database Management System</a:t>
            </a:r>
            <a:r>
              <a:rPr lang="en-US" dirty="0"/>
              <a:t>: MySQL or PostgreSQL for storing patient data and analysis results securely. </a:t>
            </a:r>
          </a:p>
          <a:p>
            <a:pPr marL="0" indent="0">
              <a:buNone/>
            </a:pPr>
            <a:r>
              <a:rPr lang="en-US" b="1" dirty="0"/>
              <a:t>Version Control System: </a:t>
            </a:r>
            <a:r>
              <a:rPr lang="en-US" dirty="0" err="1"/>
              <a:t>Git</a:t>
            </a:r>
            <a:r>
              <a:rPr lang="en-US" dirty="0"/>
              <a:t> for tracking changes in the codebase and facilitating collaborative development. </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28</a:t>
            </a:fld>
            <a:endParaRPr lang="en-US"/>
          </a:p>
        </p:txBody>
      </p:sp>
    </p:spTree>
    <p:extLst>
      <p:ext uri="{BB962C8B-B14F-4D97-AF65-F5344CB8AC3E}">
        <p14:creationId xmlns:p14="http://schemas.microsoft.com/office/powerpoint/2010/main" val="3775667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a:t>
            </a:r>
            <a:r>
              <a:rPr lang="en-IN" spc="-60" dirty="0"/>
              <a:t> </a:t>
            </a:r>
            <a:r>
              <a:rPr lang="en-IN" dirty="0"/>
              <a:t>AND</a:t>
            </a:r>
            <a:r>
              <a:rPr lang="en-IN" spc="-70" dirty="0"/>
              <a:t> </a:t>
            </a:r>
            <a:r>
              <a:rPr lang="en-IN" spc="-10" dirty="0"/>
              <a:t>DISCUSSION(1/5)</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29</a:t>
            </a:fld>
            <a:endParaRPr lang="en-US"/>
          </a:p>
        </p:txBody>
      </p:sp>
      <p:sp>
        <p:nvSpPr>
          <p:cNvPr id="3" name="Content Placeholder 2"/>
          <p:cNvSpPr>
            <a:spLocks noGrp="1"/>
          </p:cNvSpPr>
          <p:nvPr>
            <p:ph idx="1"/>
          </p:nvPr>
        </p:nvSpPr>
        <p:spPr/>
        <p:txBody>
          <a:bodyPr>
            <a:normAutofit/>
          </a:bodyPr>
          <a:lstStyle/>
          <a:p>
            <a:pPr marL="0" indent="0" algn="ctr">
              <a:buNone/>
            </a:pPr>
            <a:r>
              <a:rPr lang="en-US" sz="2400" b="1" dirty="0">
                <a:latin typeface="Arial" panose="020B0604020202020204" pitchFamily="34" charset="0"/>
                <a:cs typeface="Arial" panose="020B0604020202020204" pitchFamily="34" charset="0"/>
              </a:rPr>
              <a:t>SCREEN SHOTS:</a:t>
            </a:r>
            <a:br>
              <a:rPr lang="en-IN" sz="2400" dirty="0">
                <a:latin typeface="Arial" panose="020B0604020202020204" pitchFamily="34" charset="0"/>
                <a:cs typeface="Arial" panose="020B0604020202020204" pitchFamily="34" charset="0"/>
              </a:rPr>
            </a:br>
            <a:r>
              <a:rPr lang="en-AU" sz="2000" dirty="0">
                <a:latin typeface="Arial" panose="020B0604020202020204" pitchFamily="34" charset="0"/>
                <a:cs typeface="Arial" panose="020B0604020202020204" pitchFamily="34" charset="0"/>
              </a:rPr>
              <a:t>WELCOME PAGE</a:t>
            </a:r>
          </a:p>
          <a:p>
            <a:pPr marL="0" indent="0" algn="ctr">
              <a:buNone/>
            </a:pPr>
            <a:endParaRPr lang="en-IN" sz="2400" dirty="0">
              <a:latin typeface="Arial" panose="020B0604020202020204" pitchFamily="34" charset="0"/>
              <a:cs typeface="Arial" panose="020B0604020202020204" pitchFamily="34" charset="0"/>
            </a:endParaRPr>
          </a:p>
        </p:txBody>
      </p:sp>
      <p:pic>
        <p:nvPicPr>
          <p:cNvPr id="10" name="Image 14"/>
          <p:cNvPicPr/>
          <p:nvPr/>
        </p:nvPicPr>
        <p:blipFill>
          <a:blip r:embed="rId2" cstate="print"/>
          <a:stretch>
            <a:fillRect/>
          </a:stretch>
        </p:blipFill>
        <p:spPr>
          <a:xfrm>
            <a:off x="914401" y="2438400"/>
            <a:ext cx="7543800" cy="3810000"/>
          </a:xfrm>
          <a:prstGeom prst="rect">
            <a:avLst/>
          </a:prstGeom>
        </p:spPr>
      </p:pic>
    </p:spTree>
    <p:extLst>
      <p:ext uri="{BB962C8B-B14F-4D97-AF65-F5344CB8AC3E}">
        <p14:creationId xmlns:p14="http://schemas.microsoft.com/office/powerpoint/2010/main" val="1323625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a:t>
            </a:r>
            <a:r>
              <a:rPr lang="en-IN" spc="-60" dirty="0"/>
              <a:t> </a:t>
            </a:r>
            <a:r>
              <a:rPr lang="en-IN" dirty="0"/>
              <a:t>AND</a:t>
            </a:r>
            <a:r>
              <a:rPr lang="en-IN" spc="-70" dirty="0"/>
              <a:t> </a:t>
            </a:r>
            <a:r>
              <a:rPr lang="en-IN" spc="-10" dirty="0"/>
              <a:t>DISCUSSION(2/5)</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30</a:t>
            </a:fld>
            <a:endParaRPr lang="en-US"/>
          </a:p>
        </p:txBody>
      </p:sp>
      <p:pic>
        <p:nvPicPr>
          <p:cNvPr id="11" name="Image 13"/>
          <p:cNvPicPr>
            <a:picLocks noGrp="1"/>
          </p:cNvPicPr>
          <p:nvPr>
            <p:ph sz="half" idx="1"/>
          </p:nvPr>
        </p:nvPicPr>
        <p:blipFill>
          <a:blip r:embed="rId2" cstate="print"/>
          <a:stretch>
            <a:fillRect/>
          </a:stretch>
        </p:blipFill>
        <p:spPr>
          <a:xfrm>
            <a:off x="457200" y="2760401"/>
            <a:ext cx="4038600" cy="2205560"/>
          </a:xfrm>
          <a:prstGeom prst="rect">
            <a:avLst/>
          </a:prstGeom>
        </p:spPr>
      </p:pic>
      <p:pic>
        <p:nvPicPr>
          <p:cNvPr id="13" name="Image 10"/>
          <p:cNvPicPr>
            <a:picLocks noGrp="1"/>
          </p:cNvPicPr>
          <p:nvPr>
            <p:ph sz="half" idx="2"/>
          </p:nvPr>
        </p:nvPicPr>
        <p:blipFill>
          <a:blip r:embed="rId3" cstate="print"/>
          <a:stretch>
            <a:fillRect/>
          </a:stretch>
        </p:blipFill>
        <p:spPr>
          <a:xfrm>
            <a:off x="4648200" y="2783740"/>
            <a:ext cx="4038600" cy="2158882"/>
          </a:xfrm>
          <a:prstGeom prst="rect">
            <a:avLst/>
          </a:prstGeom>
        </p:spPr>
      </p:pic>
      <p:sp>
        <p:nvSpPr>
          <p:cNvPr id="14" name="TextBox 13"/>
          <p:cNvSpPr txBox="1"/>
          <p:nvPr/>
        </p:nvSpPr>
        <p:spPr>
          <a:xfrm>
            <a:off x="990600" y="2286000"/>
            <a:ext cx="2743200" cy="381000"/>
          </a:xfrm>
          <a:prstGeom prst="rect">
            <a:avLst/>
          </a:prstGeom>
          <a:noFill/>
        </p:spPr>
        <p:txBody>
          <a:bodyPr wrap="square" rtlCol="0">
            <a:spAutoFit/>
          </a:bodyPr>
          <a:lstStyle/>
          <a:p>
            <a:pPr algn="ctr"/>
            <a:r>
              <a:rPr lang="en-US" dirty="0"/>
              <a:t>LOGIN PAGE</a:t>
            </a:r>
            <a:endParaRPr lang="en-IN" dirty="0"/>
          </a:p>
        </p:txBody>
      </p:sp>
      <p:sp>
        <p:nvSpPr>
          <p:cNvPr id="15" name="TextBox 14"/>
          <p:cNvSpPr txBox="1"/>
          <p:nvPr/>
        </p:nvSpPr>
        <p:spPr>
          <a:xfrm>
            <a:off x="5105400" y="2362200"/>
            <a:ext cx="3048000" cy="369332"/>
          </a:xfrm>
          <a:prstGeom prst="rect">
            <a:avLst/>
          </a:prstGeom>
          <a:noFill/>
        </p:spPr>
        <p:txBody>
          <a:bodyPr wrap="square" rtlCol="0">
            <a:spAutoFit/>
          </a:bodyPr>
          <a:lstStyle/>
          <a:p>
            <a:pPr algn="ctr"/>
            <a:r>
              <a:rPr lang="en-US" dirty="0"/>
              <a:t>REGISTRATION PAGE</a:t>
            </a:r>
            <a:endParaRPr lang="en-IN" dirty="0"/>
          </a:p>
        </p:txBody>
      </p:sp>
    </p:spTree>
    <p:extLst>
      <p:ext uri="{BB962C8B-B14F-4D97-AF65-F5344CB8AC3E}">
        <p14:creationId xmlns:p14="http://schemas.microsoft.com/office/powerpoint/2010/main" val="767011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a:t>
            </a:r>
            <a:r>
              <a:rPr lang="en-IN" spc="-60" dirty="0"/>
              <a:t> </a:t>
            </a:r>
            <a:r>
              <a:rPr lang="en-IN" dirty="0"/>
              <a:t>AND</a:t>
            </a:r>
            <a:r>
              <a:rPr lang="en-IN" spc="-70" dirty="0"/>
              <a:t> </a:t>
            </a:r>
            <a:r>
              <a:rPr lang="en-IN" spc="-10" dirty="0"/>
              <a:t>DISCUSSION(3/5)</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31</a:t>
            </a:fld>
            <a:endParaRPr lang="en-US"/>
          </a:p>
        </p:txBody>
      </p:sp>
      <p:pic>
        <p:nvPicPr>
          <p:cNvPr id="10" name="Image 16"/>
          <p:cNvPicPr>
            <a:picLocks noGrp="1"/>
          </p:cNvPicPr>
          <p:nvPr>
            <p:ph sz="half" idx="1"/>
          </p:nvPr>
        </p:nvPicPr>
        <p:blipFill>
          <a:blip r:embed="rId2" cstate="print"/>
          <a:stretch>
            <a:fillRect/>
          </a:stretch>
        </p:blipFill>
        <p:spPr>
          <a:xfrm>
            <a:off x="457200" y="2771597"/>
            <a:ext cx="4038600" cy="2183169"/>
          </a:xfrm>
          <a:prstGeom prst="rect">
            <a:avLst/>
          </a:prstGeom>
        </p:spPr>
      </p:pic>
      <p:sp>
        <p:nvSpPr>
          <p:cNvPr id="12" name="TextBox 11"/>
          <p:cNvSpPr txBox="1"/>
          <p:nvPr/>
        </p:nvSpPr>
        <p:spPr>
          <a:xfrm>
            <a:off x="914400" y="2286000"/>
            <a:ext cx="3124200" cy="381000"/>
          </a:xfrm>
          <a:prstGeom prst="rect">
            <a:avLst/>
          </a:prstGeom>
          <a:noFill/>
        </p:spPr>
        <p:txBody>
          <a:bodyPr wrap="square" rtlCol="0">
            <a:spAutoFit/>
          </a:bodyPr>
          <a:lstStyle/>
          <a:p>
            <a:pPr algn="ctr"/>
            <a:r>
              <a:rPr lang="en-US" dirty="0"/>
              <a:t>DATA INPUT PAGE</a:t>
            </a:r>
            <a:endParaRPr lang="en-IN" dirty="0"/>
          </a:p>
        </p:txBody>
      </p:sp>
      <p:sp>
        <p:nvSpPr>
          <p:cNvPr id="13" name="TextBox 12"/>
          <p:cNvSpPr txBox="1"/>
          <p:nvPr/>
        </p:nvSpPr>
        <p:spPr>
          <a:xfrm>
            <a:off x="4953000" y="2286000"/>
            <a:ext cx="3429000" cy="369332"/>
          </a:xfrm>
          <a:prstGeom prst="rect">
            <a:avLst/>
          </a:prstGeom>
          <a:noFill/>
        </p:spPr>
        <p:txBody>
          <a:bodyPr wrap="square" rtlCol="0">
            <a:spAutoFit/>
          </a:bodyPr>
          <a:lstStyle/>
          <a:p>
            <a:pPr algn="ctr"/>
            <a:r>
              <a:rPr lang="en-US" dirty="0"/>
              <a:t>DATABASE PAGE</a:t>
            </a:r>
            <a:endParaRPr lang="en-IN" dirty="0"/>
          </a:p>
        </p:txBody>
      </p:sp>
      <p:pic>
        <p:nvPicPr>
          <p:cNvPr id="17" name="Image 19"/>
          <p:cNvPicPr>
            <a:picLocks noGrp="1"/>
          </p:cNvPicPr>
          <p:nvPr>
            <p:ph sz="half" idx="2"/>
          </p:nvPr>
        </p:nvPicPr>
        <p:blipFill>
          <a:blip r:embed="rId3" cstate="print"/>
          <a:stretch>
            <a:fillRect/>
          </a:stretch>
        </p:blipFill>
        <p:spPr>
          <a:xfrm>
            <a:off x="4648200" y="2691923"/>
            <a:ext cx="4038600" cy="2342516"/>
          </a:xfrm>
          <a:prstGeom prst="rect">
            <a:avLst/>
          </a:prstGeom>
        </p:spPr>
      </p:pic>
    </p:spTree>
    <p:extLst>
      <p:ext uri="{BB962C8B-B14F-4D97-AF65-F5344CB8AC3E}">
        <p14:creationId xmlns:p14="http://schemas.microsoft.com/office/powerpoint/2010/main" val="1782629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p:txBody>
          <a:bodyPr/>
          <a:lstStyle/>
          <a:p>
            <a:pPr marL="0" indent="0" algn="ctr">
              <a:buNone/>
            </a:pPr>
            <a:r>
              <a:rPr lang="en-US" sz="2400" dirty="0"/>
              <a:t>RESULT PAGE</a:t>
            </a:r>
            <a:endParaRPr lang="en-IN" sz="2400" dirty="0"/>
          </a:p>
          <a:p>
            <a:pPr marL="0" indent="0" algn="ctr">
              <a:buNone/>
            </a:pP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32</a:t>
            </a:fld>
            <a:endParaRPr lang="en-US"/>
          </a:p>
        </p:txBody>
      </p:sp>
      <p:pic>
        <p:nvPicPr>
          <p:cNvPr id="9" name="Image 17"/>
          <p:cNvPicPr>
            <a:picLocks/>
          </p:cNvPicPr>
          <p:nvPr/>
        </p:nvPicPr>
        <p:blipFill>
          <a:blip r:embed="rId2" cstate="print"/>
          <a:stretch>
            <a:fillRect/>
          </a:stretch>
        </p:blipFill>
        <p:spPr>
          <a:xfrm>
            <a:off x="354563" y="2127379"/>
            <a:ext cx="4800600" cy="3276600"/>
          </a:xfrm>
          <a:prstGeom prst="rect">
            <a:avLst/>
          </a:prstGeom>
        </p:spPr>
      </p:pic>
      <p:pic>
        <p:nvPicPr>
          <p:cNvPr id="10" name="Image 18"/>
          <p:cNvPicPr/>
          <p:nvPr/>
        </p:nvPicPr>
        <p:blipFill>
          <a:blip r:embed="rId3" cstate="print"/>
          <a:stretch>
            <a:fillRect/>
          </a:stretch>
        </p:blipFill>
        <p:spPr>
          <a:xfrm>
            <a:off x="5029200" y="2093167"/>
            <a:ext cx="3810000" cy="3310812"/>
          </a:xfrm>
          <a:prstGeom prst="rect">
            <a:avLst/>
          </a:prstGeom>
        </p:spPr>
      </p:pic>
    </p:spTree>
    <p:extLst>
      <p:ext uri="{BB962C8B-B14F-4D97-AF65-F5344CB8AC3E}">
        <p14:creationId xmlns:p14="http://schemas.microsoft.com/office/powerpoint/2010/main" val="3837199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a:t>
            </a:r>
            <a:r>
              <a:rPr lang="en-IN" spc="-60" dirty="0"/>
              <a:t> </a:t>
            </a:r>
            <a:r>
              <a:rPr lang="en-IN" dirty="0"/>
              <a:t>AND</a:t>
            </a:r>
            <a:r>
              <a:rPr lang="en-IN" spc="-70" dirty="0"/>
              <a:t> </a:t>
            </a:r>
            <a:r>
              <a:rPr lang="en-IN" spc="-10" dirty="0"/>
              <a:t>DISCUSSION(4/5)</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33</a:t>
            </a:fld>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IN" b="1" dirty="0"/>
              <a:t>5.1 GOOGLE NET </a:t>
            </a:r>
            <a:endParaRPr lang="en-IN" dirty="0"/>
          </a:p>
          <a:p>
            <a:pPr marL="0" indent="0">
              <a:buNone/>
            </a:pPr>
            <a:r>
              <a:rPr lang="en-US" b="1" dirty="0"/>
              <a:t>Model Overview: </a:t>
            </a:r>
          </a:p>
          <a:p>
            <a:r>
              <a:rPr lang="en-US" dirty="0"/>
              <a:t>The </a:t>
            </a:r>
            <a:r>
              <a:rPr lang="en-US" dirty="0" err="1"/>
              <a:t>GoogleNet</a:t>
            </a:r>
            <a:r>
              <a:rPr lang="en-US" dirty="0"/>
              <a:t> architecture  incorporates inception modules that facilitate deeper convolutional networks while maintaining computational efficiency. </a:t>
            </a:r>
          </a:p>
          <a:p>
            <a:pPr marL="0" indent="0">
              <a:buNone/>
            </a:pPr>
            <a:r>
              <a:rPr lang="en-US" b="1" dirty="0"/>
              <a:t>Key Findings: </a:t>
            </a:r>
            <a:endParaRPr lang="en-US" dirty="0"/>
          </a:p>
          <a:p>
            <a:r>
              <a:rPr lang="en-US" dirty="0"/>
              <a:t>The model showed fluctuations in accuracy throughout the epochs, indicating the model's learning capability and possibly overfitting. </a:t>
            </a:r>
          </a:p>
          <a:p>
            <a:r>
              <a:rPr lang="en-US" dirty="0"/>
              <a:t>The training loss decreased consistently, suggesting effective learning. </a:t>
            </a:r>
            <a:endParaRPr lang="en-IN" dirty="0"/>
          </a:p>
        </p:txBody>
      </p:sp>
    </p:spTree>
    <p:extLst>
      <p:ext uri="{BB962C8B-B14F-4D97-AF65-F5344CB8AC3E}">
        <p14:creationId xmlns:p14="http://schemas.microsoft.com/office/powerpoint/2010/main" val="1575876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a:t>
            </a:r>
            <a:r>
              <a:rPr lang="en-IN" spc="-60" dirty="0"/>
              <a:t> </a:t>
            </a:r>
            <a:r>
              <a:rPr lang="en-IN" dirty="0"/>
              <a:t>AND</a:t>
            </a:r>
            <a:r>
              <a:rPr lang="en-IN" spc="-70" dirty="0"/>
              <a:t> </a:t>
            </a:r>
            <a:r>
              <a:rPr lang="en-IN" spc="-10" dirty="0"/>
              <a:t>DISCUSSION(5/5)</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b="1" dirty="0"/>
              <a:t>5.2 LENET </a:t>
            </a:r>
            <a:endParaRPr lang="en-IN" dirty="0"/>
          </a:p>
          <a:p>
            <a:pPr marL="0" indent="0">
              <a:buNone/>
            </a:pPr>
            <a:r>
              <a:rPr lang="en-US" b="1" dirty="0"/>
              <a:t>Model Overview: </a:t>
            </a:r>
          </a:p>
          <a:p>
            <a:r>
              <a:rPr lang="en-US" dirty="0"/>
              <a:t>The </a:t>
            </a:r>
            <a:r>
              <a:rPr lang="en-US" dirty="0" err="1"/>
              <a:t>LeNet</a:t>
            </a:r>
            <a:r>
              <a:rPr lang="en-US" dirty="0"/>
              <a:t> architecture consists of convolutional layers followed by subsampling and a fully connected layer terminal. </a:t>
            </a:r>
          </a:p>
          <a:p>
            <a:pPr marL="0" indent="0">
              <a:buNone/>
            </a:pPr>
            <a:r>
              <a:rPr lang="en-US" b="1" dirty="0"/>
              <a:t>Key Findings: </a:t>
            </a:r>
          </a:p>
          <a:p>
            <a:r>
              <a:rPr lang="en-US" dirty="0"/>
              <a:t>Achieved high training accuracy and low loss values. </a:t>
            </a:r>
          </a:p>
          <a:p>
            <a:r>
              <a:rPr lang="en-US" dirty="0"/>
              <a:t>Effects of data augmentation was observed, improving model generalization on unseen data. </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34</a:t>
            </a:fld>
            <a:endParaRPr lang="en-US"/>
          </a:p>
        </p:txBody>
      </p:sp>
    </p:spTree>
    <p:extLst>
      <p:ext uri="{BB962C8B-B14F-4D97-AF65-F5344CB8AC3E}">
        <p14:creationId xmlns:p14="http://schemas.microsoft.com/office/powerpoint/2010/main" val="2596110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b="1" dirty="0"/>
              <a:t>5.3 RESNET </a:t>
            </a:r>
            <a:endParaRPr lang="en-IN" dirty="0"/>
          </a:p>
          <a:p>
            <a:pPr marL="0" indent="0">
              <a:buNone/>
            </a:pPr>
            <a:r>
              <a:rPr lang="en-US" b="1" dirty="0"/>
              <a:t>Model Overview: </a:t>
            </a:r>
          </a:p>
          <a:p>
            <a:r>
              <a:rPr lang="en-US" dirty="0" err="1"/>
              <a:t>ResNet</a:t>
            </a:r>
            <a:r>
              <a:rPr lang="en-US" dirty="0"/>
              <a:t> utilizes residual learning frameworks to facilitate the training of deeper networks. </a:t>
            </a:r>
          </a:p>
          <a:p>
            <a:pPr marL="0" indent="0">
              <a:buNone/>
            </a:pPr>
            <a:r>
              <a:rPr lang="en-US" b="1" dirty="0"/>
              <a:t>Key Findings: </a:t>
            </a:r>
          </a:p>
          <a:p>
            <a:r>
              <a:rPr lang="en-US" dirty="0"/>
              <a:t>Demonstrated superior accuracy compared to both </a:t>
            </a:r>
            <a:r>
              <a:rPr lang="en-US" dirty="0" err="1"/>
              <a:t>LeNet</a:t>
            </a:r>
            <a:r>
              <a:rPr lang="en-US" dirty="0"/>
              <a:t> and Google Net. Stability in loss reduction over epochs indicates better training convergence. </a:t>
            </a:r>
          </a:p>
          <a:p>
            <a:r>
              <a:rPr lang="en-US" dirty="0"/>
              <a:t>The results reveal the effectiveness of modern convolutional architectures, particularly </a:t>
            </a:r>
            <a:r>
              <a:rPr lang="en-US" dirty="0" err="1"/>
              <a:t>ResNet</a:t>
            </a:r>
            <a:r>
              <a:rPr lang="en-US" dirty="0"/>
              <a:t>, in achieving high accuracy while minimizing loss during training. Further investigations could explore fine-tuning and additional data augmentation techniques to enhance generalization capabilities across various datasets. </a:t>
            </a:r>
            <a:endParaRPr lang="en-IN"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35</a:t>
            </a:fld>
            <a:endParaRPr lang="en-US"/>
          </a:p>
        </p:txBody>
      </p:sp>
    </p:spTree>
    <p:extLst>
      <p:ext uri="{BB962C8B-B14F-4D97-AF65-F5344CB8AC3E}">
        <p14:creationId xmlns:p14="http://schemas.microsoft.com/office/powerpoint/2010/main" val="40684287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C5D3-7FE7-1CD4-A039-22E40948A89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F1B3B215-FEAB-C707-6B8E-8565D977241D}"/>
              </a:ext>
            </a:extLst>
          </p:cNvPr>
          <p:cNvSpPr>
            <a:spLocks noGrp="1"/>
          </p:cNvSpPr>
          <p:nvPr>
            <p:ph idx="1"/>
          </p:nvPr>
        </p:nvSpPr>
        <p:spPr/>
        <p:txBody>
          <a:bodyPr>
            <a:normAutofit fontScale="70000" lnSpcReduction="20000"/>
          </a:bodyPr>
          <a:lstStyle/>
          <a:p>
            <a:pPr algn="just"/>
            <a:r>
              <a:rPr lang="en-AU" sz="2600" dirty="0">
                <a:latin typeface="Arial" panose="020B0604020202020204" pitchFamily="34" charset="0"/>
                <a:cs typeface="Arial" panose="020B0604020202020204" pitchFamily="34" charset="0"/>
              </a:rPr>
              <a:t>In conclusion, the application of Convolutional Neural Network (CNN) architectures in SPINE STENOSIS classification has demonstrated significant strides towards improving diagnostic accuracy in musculoskeletal radiology. The robust feature extraction capabilities of CNNs have enabled the identification and categorization of diverse spine abnormalities with remarkable precision. This technological advancement holds promise for streamlining and enhancing the efficiency of diagnostic processes, ultimately contributing to more inform clinical decision-making. As the field continues to embrace automated image analysis, the integration of CNN architectures stands out as a pivotal step towards revolutionizing spine diagnostics and improving patient outcomes. Further research and refinement of these models promise continued advancements in the realm of automated musculoskeletal imaging analysis. </a:t>
            </a:r>
          </a:p>
          <a:p>
            <a:endParaRPr lang="en-AU" sz="2000" dirty="0">
              <a:latin typeface="Arial" panose="020B0604020202020204" pitchFamily="34" charset="0"/>
              <a:cs typeface="Arial" panose="020B0604020202020204" pitchFamily="34" charset="0"/>
            </a:endParaRPr>
          </a:p>
          <a:p>
            <a:pPr marL="0" indent="0">
              <a:buNone/>
            </a:pPr>
            <a:r>
              <a:rPr lang="en-IN" sz="2900" b="1" dirty="0">
                <a:latin typeface="Arial" panose="020B0604020202020204" pitchFamily="34" charset="0"/>
                <a:cs typeface="Arial" panose="020B0604020202020204" pitchFamily="34" charset="0"/>
              </a:rPr>
              <a:t>    Future Work:</a:t>
            </a:r>
          </a:p>
          <a:p>
            <a:r>
              <a:rPr lang="en-US" sz="2600" dirty="0">
                <a:latin typeface="Arial" panose="020B0604020202020204" pitchFamily="34" charset="0"/>
                <a:cs typeface="Arial" panose="020B0604020202020204" pitchFamily="34" charset="0"/>
              </a:rPr>
              <a:t>Medical department wants to automate the detecting of SPINE STENOSIS from eligibility process (real time). </a:t>
            </a:r>
          </a:p>
          <a:p>
            <a:r>
              <a:rPr lang="en-US" sz="2600" dirty="0">
                <a:latin typeface="Arial" panose="020B0604020202020204" pitchFamily="34" charset="0"/>
                <a:cs typeface="Arial" panose="020B0604020202020204" pitchFamily="34" charset="0"/>
              </a:rPr>
              <a:t>To optimize the work to implement in cloud environment. </a:t>
            </a:r>
          </a:p>
          <a:p>
            <a:pPr marL="0" indent="0">
              <a:buNone/>
            </a:pPr>
            <a:r>
              <a:rPr lang="en-IN" sz="2200" b="1" dirty="0">
                <a:latin typeface="Arial" panose="020B0604020202020204" pitchFamily="34" charset="0"/>
                <a:cs typeface="Arial" panose="020B0604020202020204" pitchFamily="34" charset="0"/>
              </a:rPr>
              <a:t> </a:t>
            </a:r>
          </a:p>
          <a:p>
            <a:pPr marL="0" indent="0">
              <a:buNone/>
            </a:pPr>
            <a:endParaRPr lang="en-IN" sz="2200" dirty="0">
              <a:latin typeface="Arial" panose="020B0604020202020204" pitchFamily="34" charset="0"/>
              <a:cs typeface="Arial" panose="020B0604020202020204" pitchFamily="34" charset="0"/>
            </a:endParaRPr>
          </a:p>
          <a:p>
            <a:pPr algn="just">
              <a:lnSpc>
                <a:spcPct val="160000"/>
              </a:lnSpc>
            </a:pPr>
            <a:endParaRPr lang="en-IN" sz="2000" dirty="0">
              <a:latin typeface="Arial" panose="020B0604020202020204" pitchFamily="34" charset="0"/>
              <a:cs typeface="Arial" panose="020B0604020202020204" pitchFamily="34" charset="0"/>
            </a:endParaRPr>
          </a:p>
          <a:p>
            <a:endParaRPr lang="en-IN" dirty="0"/>
          </a:p>
        </p:txBody>
      </p:sp>
      <p:sp>
        <p:nvSpPr>
          <p:cNvPr id="4" name="Date Placeholder 3">
            <a:extLst>
              <a:ext uri="{FF2B5EF4-FFF2-40B4-BE49-F238E27FC236}">
                <a16:creationId xmlns:a16="http://schemas.microsoft.com/office/drawing/2014/main" id="{4D3257A8-BF06-6DE9-CAB7-3922687FB7B1}"/>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112A890B-AD27-003B-5B95-E907DB8A752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2EE4A38-7751-8794-4BDC-7D82FB65833F}"/>
              </a:ext>
            </a:extLst>
          </p:cNvPr>
          <p:cNvSpPr>
            <a:spLocks noGrp="1"/>
          </p:cNvSpPr>
          <p:nvPr>
            <p:ph type="sldNum" sz="quarter" idx="12"/>
          </p:nvPr>
        </p:nvSpPr>
        <p:spPr/>
        <p:txBody>
          <a:bodyPr/>
          <a:lstStyle/>
          <a:p>
            <a:fld id="{7B28076C-CE04-4A00-BFAA-A90EA8355859}" type="slidenum">
              <a:rPr lang="en-US" smtClean="0"/>
              <a:pPr/>
              <a:t>36</a:t>
            </a:fld>
            <a:endParaRPr lang="en-US"/>
          </a:p>
        </p:txBody>
      </p:sp>
    </p:spTree>
    <p:extLst>
      <p:ext uri="{BB962C8B-B14F-4D97-AF65-F5344CB8AC3E}">
        <p14:creationId xmlns:p14="http://schemas.microsoft.com/office/powerpoint/2010/main" val="3293083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B12F0-08B7-6851-AD9B-F3576B7E40C4}"/>
              </a:ext>
            </a:extLst>
          </p:cNvPr>
          <p:cNvSpPr>
            <a:spLocks noGrp="1"/>
          </p:cNvSpPr>
          <p:nvPr>
            <p:ph type="title"/>
          </p:nvPr>
        </p:nvSpPr>
        <p:spPr/>
        <p:txBody>
          <a:bodyPr/>
          <a:lstStyle/>
          <a:p>
            <a:r>
              <a:rPr lang="en-US" dirty="0">
                <a:cs typeface="Calibri"/>
              </a:rPr>
              <a:t>Reference</a:t>
            </a:r>
            <a:endParaRPr lang="en-US" dirty="0"/>
          </a:p>
        </p:txBody>
      </p:sp>
      <p:sp>
        <p:nvSpPr>
          <p:cNvPr id="3" name="Content Placeholder 2">
            <a:extLst>
              <a:ext uri="{FF2B5EF4-FFF2-40B4-BE49-F238E27FC236}">
                <a16:creationId xmlns:a16="http://schemas.microsoft.com/office/drawing/2014/main" id="{F8BC6C29-2CAA-0513-BB99-E86C7A161CCF}"/>
              </a:ext>
            </a:extLst>
          </p:cNvPr>
          <p:cNvSpPr>
            <a:spLocks noGrp="1"/>
          </p:cNvSpPr>
          <p:nvPr>
            <p:ph idx="1"/>
          </p:nvPr>
        </p:nvSpPr>
        <p:spPr>
          <a:xfrm>
            <a:off x="341227" y="1371600"/>
            <a:ext cx="8229600" cy="5303807"/>
          </a:xfrm>
        </p:spPr>
        <p:txBody>
          <a:bodyPr vert="horz" lIns="91440" tIns="45720" rIns="91440" bIns="45720" rtlCol="0" anchor="t">
            <a:normAutofit fontScale="77500" lnSpcReduction="20000"/>
          </a:bodyPr>
          <a:lstStyle/>
          <a:p>
            <a:pPr>
              <a:lnSpc>
                <a:spcPct val="160000"/>
              </a:lnSpc>
            </a:pPr>
            <a:r>
              <a:rPr lang="en-US" sz="1200" dirty="0">
                <a:latin typeface="Arial"/>
                <a:ea typeface="+mn-lt"/>
                <a:cs typeface="+mn-lt"/>
              </a:rPr>
              <a:t> </a:t>
            </a:r>
            <a:r>
              <a:rPr lang="en-IN" sz="1200" dirty="0" err="1">
                <a:latin typeface="Arial"/>
                <a:cs typeface="Arial"/>
              </a:rPr>
              <a:t>Campagner</a:t>
            </a:r>
            <a:r>
              <a:rPr lang="en-IN" sz="1200" dirty="0">
                <a:latin typeface="Arial"/>
                <a:cs typeface="Arial"/>
              </a:rPr>
              <a:t> A, </a:t>
            </a:r>
            <a:r>
              <a:rPr lang="en-IN" sz="1200" dirty="0" err="1">
                <a:latin typeface="Arial"/>
                <a:cs typeface="Arial"/>
              </a:rPr>
              <a:t>Berjano</a:t>
            </a:r>
            <a:r>
              <a:rPr lang="en-IN" sz="1200" dirty="0">
                <a:latin typeface="Arial"/>
                <a:cs typeface="Arial"/>
              </a:rPr>
              <a:t> P, Lamartina C, Langella F, Lombardi G, </a:t>
            </a:r>
            <a:r>
              <a:rPr lang="en-IN" sz="1200" dirty="0" err="1">
                <a:latin typeface="Arial"/>
                <a:cs typeface="Arial"/>
              </a:rPr>
              <a:t>Cabitza</a:t>
            </a:r>
            <a:r>
              <a:rPr lang="en-IN" sz="1200" dirty="0">
                <a:latin typeface="Arial"/>
                <a:cs typeface="Arial"/>
              </a:rPr>
              <a:t> F. Assessment and prediction of spine surgery invasiveness with machine learning techniques. </a:t>
            </a:r>
            <a:r>
              <a:rPr lang="en-IN" sz="1200" dirty="0" err="1">
                <a:latin typeface="Arial"/>
                <a:cs typeface="Arial"/>
              </a:rPr>
              <a:t>Comput</a:t>
            </a:r>
            <a:r>
              <a:rPr lang="en-IN" sz="1200" dirty="0">
                <a:latin typeface="Arial"/>
                <a:cs typeface="Arial"/>
              </a:rPr>
              <a:t> Biol Med. 2020; 121:103796. doi:10.1016/j.compbiomed.2020.103796</a:t>
            </a:r>
          </a:p>
          <a:p>
            <a:pPr>
              <a:lnSpc>
                <a:spcPct val="160000"/>
              </a:lnSpc>
            </a:pPr>
            <a:r>
              <a:rPr lang="en-IN" sz="1200" dirty="0">
                <a:latin typeface="Arial"/>
                <a:cs typeface="Arial"/>
              </a:rPr>
              <a:t>​G. J. Snoek, M. J. I. </a:t>
            </a:r>
            <a:r>
              <a:rPr lang="en-IN" sz="1200" dirty="0" err="1">
                <a:latin typeface="Arial"/>
                <a:cs typeface="Arial"/>
              </a:rPr>
              <a:t>Jzerman</a:t>
            </a:r>
            <a:r>
              <a:rPr lang="en-IN" sz="1200" dirty="0">
                <a:latin typeface="Arial"/>
                <a:cs typeface="Arial"/>
              </a:rPr>
              <a:t>, H. J. Hermens, D. Maxwell, and F. Biering-Sorensen, “Survey of the needs of patients with spinal cord injury: Impact and priority for improvement in hand function in tetraplegics,” Spinal Cord, vol. 42, no. 9, pp. 526–532, Sep. 2004, </a:t>
            </a:r>
            <a:r>
              <a:rPr lang="en-IN" sz="1200" dirty="0" err="1">
                <a:latin typeface="Arial"/>
                <a:cs typeface="Arial"/>
              </a:rPr>
              <a:t>doi</a:t>
            </a:r>
            <a:r>
              <a:rPr lang="en-IN" sz="1200" dirty="0">
                <a:latin typeface="Arial"/>
                <a:cs typeface="Arial"/>
              </a:rPr>
              <a:t>: 10.1038/sj.sc.3101638.</a:t>
            </a:r>
          </a:p>
          <a:p>
            <a:pPr>
              <a:lnSpc>
                <a:spcPct val="160000"/>
              </a:lnSpc>
            </a:pPr>
            <a:r>
              <a:rPr lang="en-IN" sz="1200" dirty="0">
                <a:latin typeface="Arial"/>
                <a:cs typeface="Arial"/>
              </a:rPr>
              <a:t>​He K, Zhang X, Ren S, Sun J. Deep residual learning for image recognition. Proceedings of the IEEE Conference on Computer Vision and Pattern Recognition; Piscataway, NJ: Institute of Electrical and Electronics Engineers (IEEE); 2016. </a:t>
            </a:r>
            <a:r>
              <a:rPr lang="en-IN" sz="1200" dirty="0" err="1">
                <a:latin typeface="Arial"/>
                <a:cs typeface="Arial"/>
              </a:rPr>
              <a:t>ArXiv</a:t>
            </a:r>
            <a:r>
              <a:rPr lang="en-IN" sz="1200" dirty="0">
                <a:latin typeface="Arial"/>
                <a:cs typeface="Arial"/>
              </a:rPr>
              <a:t> Preprint arXiv:1512.03385.</a:t>
            </a:r>
          </a:p>
          <a:p>
            <a:pPr>
              <a:lnSpc>
                <a:spcPct val="160000"/>
              </a:lnSpc>
            </a:pPr>
            <a:r>
              <a:rPr lang="en-IN" sz="1200" dirty="0">
                <a:latin typeface="Arial"/>
                <a:cs typeface="Arial"/>
              </a:rPr>
              <a:t>​L. Britten, R. O. Coats, R. M. Ichiyama, W. Raza, F. Jamil, and S. L. Astill, “The effect of task symmetry on bimanual reach-to-grasp movements after cervical spinal cord injury,” Exp. Brain Res., vol. 236, no. 11, pp. 3101–3111, Nov. 2018, </a:t>
            </a:r>
            <a:r>
              <a:rPr lang="en-IN" sz="1200" dirty="0" err="1">
                <a:latin typeface="Arial"/>
                <a:cs typeface="Arial"/>
              </a:rPr>
              <a:t>doi</a:t>
            </a:r>
            <a:r>
              <a:rPr lang="en-IN" sz="1200" dirty="0">
                <a:latin typeface="Arial"/>
                <a:cs typeface="Arial"/>
              </a:rPr>
              <a:t>: 10.1007/s00221-018-5354-8.​</a:t>
            </a:r>
          </a:p>
          <a:p>
            <a:pPr>
              <a:lnSpc>
                <a:spcPct val="160000"/>
              </a:lnSpc>
            </a:pPr>
            <a:r>
              <a:rPr lang="en-IN" sz="1200" dirty="0">
                <a:latin typeface="Arial"/>
                <a:cs typeface="Arial"/>
              </a:rPr>
              <a:t>L. Reissner, G. Fischer, R. List, W. R. Taylor, P. </a:t>
            </a:r>
            <a:r>
              <a:rPr lang="en-IN" sz="1200" dirty="0" err="1">
                <a:latin typeface="Arial"/>
                <a:cs typeface="Arial"/>
              </a:rPr>
              <a:t>Giovanoli</a:t>
            </a:r>
            <a:r>
              <a:rPr lang="en-IN" sz="1200" dirty="0">
                <a:latin typeface="Arial"/>
                <a:cs typeface="Arial"/>
              </a:rPr>
              <a:t>, and M. Calcagni, “Minimal detectable difference of the finger and wrist range of motion: Comparison of goniometry and 3D motion analysis,” J. Orthopaedic Surgery Res., vol. 14, no. 1, p. 173, Jun. 2019, </a:t>
            </a:r>
            <a:r>
              <a:rPr lang="en-IN" sz="1200" dirty="0" err="1">
                <a:latin typeface="Arial"/>
                <a:cs typeface="Arial"/>
              </a:rPr>
              <a:t>doi</a:t>
            </a:r>
            <a:r>
              <a:rPr lang="en-IN" sz="1200" dirty="0">
                <a:latin typeface="Arial"/>
                <a:cs typeface="Arial"/>
              </a:rPr>
              <a:t>: 10.1186/s13018-019-1177-y.</a:t>
            </a:r>
          </a:p>
          <a:p>
            <a:pPr>
              <a:lnSpc>
                <a:spcPct val="160000"/>
              </a:lnSpc>
            </a:pPr>
            <a:r>
              <a:rPr lang="en-IN" sz="1200" dirty="0">
                <a:latin typeface="Arial"/>
                <a:cs typeface="Arial"/>
              </a:rPr>
              <a:t>​</a:t>
            </a:r>
            <a:r>
              <a:rPr lang="en-IN" sz="1200" dirty="0" err="1">
                <a:latin typeface="Arial"/>
                <a:cs typeface="Arial"/>
              </a:rPr>
              <a:t>Manchikanti</a:t>
            </a:r>
            <a:r>
              <a:rPr lang="en-IN" sz="1200" dirty="0">
                <a:latin typeface="Arial"/>
                <a:cs typeface="Arial"/>
              </a:rPr>
              <a:t> L, Singh V, Frank JEF, Benyamin RM, Hirsch JA. Epidemiology of low back pain in adults. Neuromodulation. 2014; 17(S2): 3–10. https://doi.org/10.1111/ner.12018 PMID: 25395111</a:t>
            </a:r>
          </a:p>
          <a:p>
            <a:pPr>
              <a:lnSpc>
                <a:spcPct val="160000"/>
              </a:lnSpc>
            </a:pPr>
            <a:r>
              <a:rPr lang="en-IN" sz="1200" dirty="0">
                <a:latin typeface="Arial"/>
                <a:cs typeface="Arial"/>
              </a:rPr>
              <a:t>​</a:t>
            </a:r>
            <a:r>
              <a:rPr lang="en-IN" sz="1200" dirty="0" err="1">
                <a:latin typeface="Arial"/>
                <a:cs typeface="Arial"/>
              </a:rPr>
              <a:t>Nijeweme</a:t>
            </a:r>
            <a:r>
              <a:rPr lang="en-IN" sz="1200" dirty="0">
                <a:latin typeface="Arial"/>
                <a:cs typeface="Arial"/>
              </a:rPr>
              <a:t>–d WO, </a:t>
            </a:r>
            <a:r>
              <a:rPr lang="en-IN" sz="1200" dirty="0" err="1">
                <a:latin typeface="Arial"/>
                <a:cs typeface="Arial"/>
              </a:rPr>
              <a:t>Velsen</a:t>
            </a:r>
            <a:r>
              <a:rPr lang="en-IN" sz="1200" dirty="0">
                <a:latin typeface="Arial"/>
                <a:cs typeface="Arial"/>
              </a:rPr>
              <a:t> LV, Groothuis OKGM, Soer R, Hermens H. Should I see a healthcare professional or can I perform self-care: self-referral decision support for patients with low back pain. IEEE International Conference on Healthcare Informatics (ICHI). 2016: 495–503. https://doi.org/10.1109/ ICHI.2016.90</a:t>
            </a:r>
          </a:p>
          <a:p>
            <a:pPr>
              <a:lnSpc>
                <a:spcPct val="160000"/>
              </a:lnSpc>
            </a:pPr>
            <a:r>
              <a:rPr lang="en-IN" sz="1200" dirty="0">
                <a:latin typeface="Arial"/>
                <a:cs typeface="Arial"/>
              </a:rPr>
              <a:t>​Scheer JK, Smith JS, Schwab F, et al. Development of a preoperative predictive model for major complications following adult spinal deformity surgery. J </a:t>
            </a:r>
            <a:r>
              <a:rPr lang="en-IN" sz="1200" dirty="0" err="1">
                <a:latin typeface="Arial"/>
                <a:cs typeface="Arial"/>
              </a:rPr>
              <a:t>Neurosurg</a:t>
            </a:r>
            <a:r>
              <a:rPr lang="en-IN" sz="1200" dirty="0">
                <a:latin typeface="Arial"/>
                <a:cs typeface="Arial"/>
              </a:rPr>
              <a:t> Spine. 2017;26:736-743.​</a:t>
            </a:r>
          </a:p>
          <a:p>
            <a:pPr>
              <a:lnSpc>
                <a:spcPct val="160000"/>
              </a:lnSpc>
            </a:pPr>
            <a:r>
              <a:rPr lang="en-IN" sz="1200" dirty="0" err="1">
                <a:latin typeface="Arial"/>
                <a:cs typeface="Arial"/>
              </a:rPr>
              <a:t>Wirries</a:t>
            </a:r>
            <a:r>
              <a:rPr lang="en-IN" sz="1200" dirty="0">
                <a:latin typeface="Arial"/>
                <a:cs typeface="Arial"/>
              </a:rPr>
              <a:t> A, Geiger F, Hammad A, </a:t>
            </a:r>
            <a:r>
              <a:rPr lang="en-IN" sz="1200" dirty="0" err="1">
                <a:latin typeface="Arial"/>
                <a:cs typeface="Arial"/>
              </a:rPr>
              <a:t>Oberkircher</a:t>
            </a:r>
            <a:r>
              <a:rPr lang="en-IN" sz="1200" dirty="0">
                <a:latin typeface="Arial"/>
                <a:cs typeface="Arial"/>
              </a:rPr>
              <a:t> L, </a:t>
            </a:r>
            <a:r>
              <a:rPr lang="en-IN" sz="1200" dirty="0" err="1">
                <a:latin typeface="Arial"/>
                <a:cs typeface="Arial"/>
              </a:rPr>
              <a:t>Blu¨mcke</a:t>
            </a:r>
            <a:r>
              <a:rPr lang="en-IN" sz="1200" dirty="0">
                <a:latin typeface="Arial"/>
                <a:cs typeface="Arial"/>
              </a:rPr>
              <a:t> I, Jabari S. Artificial intelligence facilitates decision-making in the treatment of lumbar disc herniations. </a:t>
            </a:r>
            <a:r>
              <a:rPr lang="en-IN" sz="1200" dirty="0" err="1">
                <a:latin typeface="Arial"/>
                <a:cs typeface="Arial"/>
              </a:rPr>
              <a:t>Eur</a:t>
            </a:r>
            <a:r>
              <a:rPr lang="en-IN" sz="1200" dirty="0">
                <a:latin typeface="Arial"/>
                <a:cs typeface="Arial"/>
              </a:rPr>
              <a:t> Spine J.2020. doi:10.1007/s00586-020-06613-2</a:t>
            </a:r>
          </a:p>
          <a:p>
            <a:pPr>
              <a:lnSpc>
                <a:spcPct val="160000"/>
              </a:lnSpc>
            </a:pPr>
            <a:r>
              <a:rPr lang="en-IN" sz="1200" dirty="0">
                <a:latin typeface="Arial"/>
                <a:cs typeface="Arial"/>
              </a:rPr>
              <a:t>​Yin P, Mao N, Zhao C, Wu J, Chen L, Hong N. A </a:t>
            </a:r>
            <a:r>
              <a:rPr lang="en-IN" sz="1200" dirty="0" err="1">
                <a:latin typeface="Arial"/>
                <a:cs typeface="Arial"/>
              </a:rPr>
              <a:t>tripleclassification</a:t>
            </a:r>
            <a:r>
              <a:rPr lang="en-IN" sz="1200" dirty="0">
                <a:latin typeface="Arial"/>
                <a:cs typeface="Arial"/>
              </a:rPr>
              <a:t> radiomics model for the differentiation of primary chordoma, giant cell </a:t>
            </a:r>
            <a:r>
              <a:rPr lang="en-IN" sz="1200" dirty="0" err="1">
                <a:latin typeface="Arial"/>
                <a:cs typeface="Arial"/>
              </a:rPr>
              <a:t>tumor</a:t>
            </a:r>
            <a:r>
              <a:rPr lang="en-IN" sz="1200" dirty="0">
                <a:latin typeface="Arial"/>
                <a:cs typeface="Arial"/>
              </a:rPr>
              <a:t>, and metastatic </a:t>
            </a:r>
            <a:r>
              <a:rPr lang="en-IN" sz="1200" dirty="0" err="1">
                <a:latin typeface="Arial"/>
                <a:cs typeface="Arial"/>
              </a:rPr>
              <a:t>tumor</a:t>
            </a:r>
            <a:r>
              <a:rPr lang="en-IN" sz="1200" dirty="0">
                <a:latin typeface="Arial"/>
                <a:cs typeface="Arial"/>
              </a:rPr>
              <a:t> of sacrum based on T2-weighted and contrast-enhanced T1-weighted MRI. </a:t>
            </a:r>
            <a:r>
              <a:rPr lang="en-IN" sz="1200" dirty="0" err="1">
                <a:latin typeface="Arial"/>
                <a:cs typeface="Arial"/>
              </a:rPr>
              <a:t>JMagn</a:t>
            </a:r>
            <a:r>
              <a:rPr lang="en-IN" sz="1200" dirty="0">
                <a:latin typeface="Arial"/>
                <a:cs typeface="Arial"/>
              </a:rPr>
              <a:t> </a:t>
            </a:r>
            <a:r>
              <a:rPr lang="en-IN" sz="1200" dirty="0" err="1">
                <a:latin typeface="Arial"/>
                <a:cs typeface="Arial"/>
              </a:rPr>
              <a:t>Reson</a:t>
            </a:r>
            <a:r>
              <a:rPr lang="en-IN" sz="1200" dirty="0">
                <a:latin typeface="Arial"/>
                <a:cs typeface="Arial"/>
              </a:rPr>
              <a:t> Imag. 2019;49(3):752-759. doi:10.1002/jmri.26238</a:t>
            </a:r>
          </a:p>
          <a:p>
            <a:pPr>
              <a:lnSpc>
                <a:spcPct val="160000"/>
              </a:lnSpc>
            </a:pPr>
            <a:endParaRPr lang="en-US" sz="1200" dirty="0">
              <a:latin typeface="Arial" panose="020B0604020202020204" pitchFamily="34" charset="0"/>
              <a:cs typeface="Arial" panose="020B0604020202020204" pitchFamily="34" charset="0"/>
            </a:endParaRPr>
          </a:p>
          <a:p>
            <a:pPr>
              <a:lnSpc>
                <a:spcPct val="160000"/>
              </a:lnSpc>
            </a:pPr>
            <a:endParaRPr lang="en-US" sz="1200" dirty="0">
              <a:latin typeface="Arial" panose="020B0604020202020204" pitchFamily="34" charset="0"/>
              <a:cs typeface="Arial" panose="020B0604020202020204" pitchFamily="34" charset="0"/>
            </a:endParaRPr>
          </a:p>
          <a:p>
            <a:pPr>
              <a:lnSpc>
                <a:spcPct val="160000"/>
              </a:lnSpc>
            </a:pPr>
            <a:endParaRPr lang="en-US" sz="1200" dirty="0">
              <a:latin typeface="Arial"/>
              <a:cs typeface="Calibri"/>
            </a:endParaRPr>
          </a:p>
          <a:p>
            <a:pPr>
              <a:lnSpc>
                <a:spcPct val="160000"/>
              </a:lnSpc>
            </a:pPr>
            <a:endParaRPr lang="en-US" sz="1200" dirty="0">
              <a:latin typeface="Arial"/>
              <a:cs typeface="Calibri"/>
            </a:endParaRPr>
          </a:p>
        </p:txBody>
      </p:sp>
      <p:sp>
        <p:nvSpPr>
          <p:cNvPr id="4" name="Date Placeholder 3">
            <a:extLst>
              <a:ext uri="{FF2B5EF4-FFF2-40B4-BE49-F238E27FC236}">
                <a16:creationId xmlns:a16="http://schemas.microsoft.com/office/drawing/2014/main" id="{07CE21D4-10E4-4778-AB74-85EA3C8B09D9}"/>
              </a:ext>
            </a:extLst>
          </p:cNvPr>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a:extLst>
              <a:ext uri="{FF2B5EF4-FFF2-40B4-BE49-F238E27FC236}">
                <a16:creationId xmlns:a16="http://schemas.microsoft.com/office/drawing/2014/main" id="{E4BFF176-BE16-E017-2B3C-11448C4EFEAC}"/>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7CB50E53-C0AC-F8E7-C84B-B19F61FF16A9}"/>
              </a:ext>
            </a:extLst>
          </p:cNvPr>
          <p:cNvSpPr>
            <a:spLocks noGrp="1"/>
          </p:cNvSpPr>
          <p:nvPr>
            <p:ph type="sldNum" sz="quarter" idx="12"/>
          </p:nvPr>
        </p:nvSpPr>
        <p:spPr/>
        <p:txBody>
          <a:bodyPr/>
          <a:lstStyle/>
          <a:p>
            <a:fld id="{7B28076C-CE04-4A00-BFAA-A90EA8355859}" type="slidenum">
              <a:rPr lang="en-US" smtClean="0"/>
              <a:pPr/>
              <a:t>37</a:t>
            </a:fld>
            <a:endParaRPr lang="en-US"/>
          </a:p>
        </p:txBody>
      </p:sp>
    </p:spTree>
    <p:extLst>
      <p:ext uri="{BB962C8B-B14F-4D97-AF65-F5344CB8AC3E}">
        <p14:creationId xmlns:p14="http://schemas.microsoft.com/office/powerpoint/2010/main" val="2846187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940" y="228600"/>
            <a:ext cx="8229600" cy="914400"/>
          </a:xfrm>
        </p:spPr>
        <p:txBody>
          <a:bodyPr>
            <a:noAutofit/>
          </a:bodyPr>
          <a:lstStyle/>
          <a:p>
            <a:r>
              <a:rPr lang="en-US" sz="3600" dirty="0"/>
              <a:t>Paper Publication Status(Presented/Published)</a:t>
            </a:r>
            <a:endParaRPr lang="en-IN" sz="3600"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38</a:t>
            </a:fld>
            <a:endParaRPr lang="en-US"/>
          </a:p>
        </p:txBody>
      </p:sp>
      <p:pic>
        <p:nvPicPr>
          <p:cNvPr id="7" name="Image 294"/>
          <p:cNvPicPr>
            <a:picLocks noGrp="1"/>
          </p:cNvPicPr>
          <p:nvPr>
            <p:ph idx="1"/>
          </p:nvPr>
        </p:nvPicPr>
        <p:blipFill>
          <a:blip r:embed="rId2" cstate="print"/>
          <a:stretch>
            <a:fillRect/>
          </a:stretch>
        </p:blipFill>
        <p:spPr>
          <a:xfrm>
            <a:off x="1676400" y="1600200"/>
            <a:ext cx="5714999" cy="4756150"/>
          </a:xfrm>
          <a:prstGeom prst="rect">
            <a:avLst/>
          </a:prstGeom>
        </p:spPr>
      </p:pic>
      <p:sp>
        <p:nvSpPr>
          <p:cNvPr id="8" name="TextBox 7"/>
          <p:cNvSpPr txBox="1"/>
          <p:nvPr/>
        </p:nvSpPr>
        <p:spPr>
          <a:xfrm>
            <a:off x="152400" y="1338590"/>
            <a:ext cx="9149860" cy="523220"/>
          </a:xfrm>
          <a:prstGeom prst="rect">
            <a:avLst/>
          </a:prstGeom>
          <a:noFill/>
        </p:spPr>
        <p:txBody>
          <a:bodyPr wrap="square" rtlCol="0">
            <a:spAutoFit/>
          </a:bodyPr>
          <a:lstStyle/>
          <a:p>
            <a:pPr algn="ctr"/>
            <a:r>
              <a:rPr lang="en-IN" sz="1400" b="1" dirty="0"/>
              <a:t>International Conference on Recent Advances in Emerging Computing and Communication Technologies</a:t>
            </a:r>
            <a:br>
              <a:rPr lang="en-IN" sz="1400" b="1" dirty="0"/>
            </a:br>
            <a:r>
              <a:rPr lang="en-IN" sz="1400" b="1" dirty="0"/>
              <a:t>(ICRAECCT) - 2025 Hybrid Mode</a:t>
            </a:r>
          </a:p>
        </p:txBody>
      </p:sp>
    </p:spTree>
    <p:extLst>
      <p:ext uri="{BB962C8B-B14F-4D97-AF65-F5344CB8AC3E}">
        <p14:creationId xmlns:p14="http://schemas.microsoft.com/office/powerpoint/2010/main" val="3537827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PAYMENT PROOF SCREENSHOT</a:t>
            </a:r>
            <a:endParaRPr lang="en-IN" sz="3200" dirty="0"/>
          </a:p>
        </p:txBody>
      </p:sp>
      <p:sp>
        <p:nvSpPr>
          <p:cNvPr id="4" name="Date Placeholder 3"/>
          <p:cNvSpPr>
            <a:spLocks noGrp="1"/>
          </p:cNvSpPr>
          <p:nvPr>
            <p:ph type="dt" sz="half" idx="10"/>
          </p:nvPr>
        </p:nvSpPr>
        <p:spPr/>
        <p:txBody>
          <a:bodyPr/>
          <a:lstStyle/>
          <a:p>
            <a:fld id="{EB7275DB-6D13-480B-AC77-F5019BDC5287}" type="datetime3">
              <a:rPr lang="en-US" smtClean="0"/>
              <a:t>3 April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39</a:t>
            </a:fld>
            <a:endParaRPr lang="en-US"/>
          </a:p>
        </p:txBody>
      </p:sp>
      <p:pic>
        <p:nvPicPr>
          <p:cNvPr id="7" name="Content Placeholder 6"/>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828658" y="1600200"/>
            <a:ext cx="5486683" cy="4525963"/>
          </a:xfrm>
          <a:prstGeom prst="rect">
            <a:avLst/>
          </a:prstGeom>
        </p:spPr>
      </p:pic>
    </p:spTree>
    <p:extLst>
      <p:ext uri="{BB962C8B-B14F-4D97-AF65-F5344CB8AC3E}">
        <p14:creationId xmlns:p14="http://schemas.microsoft.com/office/powerpoint/2010/main" val="4070910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THANK YOU</a:t>
            </a:r>
          </a:p>
        </p:txBody>
      </p:sp>
      <p:sp>
        <p:nvSpPr>
          <p:cNvPr id="3" name="Date Placeholder 2"/>
          <p:cNvSpPr>
            <a:spLocks noGrp="1"/>
          </p:cNvSpPr>
          <p:nvPr>
            <p:ph type="dt" sz="half" idx="10"/>
          </p:nvPr>
        </p:nvSpPr>
        <p:spPr/>
        <p:txBody>
          <a:bodyPr/>
          <a:lstStyle/>
          <a:p>
            <a:fld id="{9FE8A9F4-4DB3-4EF1-A315-68E41BB689F2}" type="datetime3">
              <a:rPr lang="en-US" smtClean="0"/>
              <a:t>3 April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40</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6952</TotalTime>
  <Words>4903</Words>
  <Application>Microsoft Office PowerPoint</Application>
  <PresentationFormat>On-screen Show (4:3)</PresentationFormat>
  <Paragraphs>477</Paragraphs>
  <Slides>40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Custom Design</vt:lpstr>
      <vt:lpstr>  </vt:lpstr>
      <vt:lpstr>AGENDA</vt:lpstr>
      <vt:lpstr>ABSTRACT</vt:lpstr>
      <vt:lpstr>OBJECTIVE(S)</vt:lpstr>
      <vt:lpstr>LITERATURE SURVEY(1/10)</vt:lpstr>
      <vt:lpstr>LITERATURE SURVEY(2/10)</vt:lpstr>
      <vt:lpstr>LITERATURE SURVEY(3/10)</vt:lpstr>
      <vt:lpstr>LITERATURE SURVEY(4/10)</vt:lpstr>
      <vt:lpstr>LITERATURE SURVEY(5/10)</vt:lpstr>
      <vt:lpstr>LITERATURE SURVEY(6/10)</vt:lpstr>
      <vt:lpstr>LITERATURE SURVEY(7/10)</vt:lpstr>
      <vt:lpstr>LITERATURE SURVEY(8/10)</vt:lpstr>
      <vt:lpstr>LITERATURE SURVEY(9/10)</vt:lpstr>
      <vt:lpstr>LITERATURE SURVEY(10/10)</vt:lpstr>
      <vt:lpstr>INFERENCES FROM LITERATURE SURVEY</vt:lpstr>
      <vt:lpstr>PROPOSED SYSTEM</vt:lpstr>
      <vt:lpstr>PROPOSED SYSTEM(1/5)</vt:lpstr>
      <vt:lpstr>PROPOSED SYSTEM(2/5)</vt:lpstr>
      <vt:lpstr>PROPOSED SYSTEM(3/5)</vt:lpstr>
      <vt:lpstr>GOOGLE NET</vt:lpstr>
      <vt:lpstr>PowerPoint Presentation</vt:lpstr>
      <vt:lpstr>PowerPoint Presentation</vt:lpstr>
      <vt:lpstr>LENET</vt:lpstr>
      <vt:lpstr>PowerPoint Presentation</vt:lpstr>
      <vt:lpstr>RESNET</vt:lpstr>
      <vt:lpstr>PowerPoint Presentation</vt:lpstr>
      <vt:lpstr>ACCURACY</vt:lpstr>
      <vt:lpstr>Hardware and Software Requirements, Datasets </vt:lpstr>
      <vt:lpstr>RESULTS AND DISCUSSION(1/5)</vt:lpstr>
      <vt:lpstr>RESULTS AND DISCUSSION(2/5)</vt:lpstr>
      <vt:lpstr>RESULTS AND DISCUSSION(3/5)</vt:lpstr>
      <vt:lpstr> </vt:lpstr>
      <vt:lpstr>RESULTS AND DISCUSSION(4/5)</vt:lpstr>
      <vt:lpstr>RESULTS AND DISCUSSION(5/5)</vt:lpstr>
      <vt:lpstr> </vt:lpstr>
      <vt:lpstr>CONCLUSION</vt:lpstr>
      <vt:lpstr>Reference</vt:lpstr>
      <vt:lpstr>Paper Publication Status(Presented/Published)</vt:lpstr>
      <vt:lpstr>PAYMENT PROOF SCREENSHOT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Kamalesh Babu</cp:lastModifiedBy>
  <cp:revision>351</cp:revision>
  <dcterms:created xsi:type="dcterms:W3CDTF">2019-11-06T07:48:53Z</dcterms:created>
  <dcterms:modified xsi:type="dcterms:W3CDTF">2025-04-03T04:58:01Z</dcterms:modified>
</cp:coreProperties>
</file>